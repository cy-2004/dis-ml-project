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Lst>
  <p:sldSz cy="5143500" cx="9144000"/>
  <p:notesSz cx="6858000" cy="9144000"/>
  <p:embeddedFontLst>
    <p:embeddedFont>
      <p:font typeface="Libre Baskerville"/>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LibreBaskerville-italic.fntdata"/><Relationship Id="rId20" Type="http://schemas.openxmlformats.org/officeDocument/2006/relationships/slide" Target="slides/slide16.xml"/><Relationship Id="rId41" Type="http://schemas.openxmlformats.org/officeDocument/2006/relationships/font" Target="fonts/LibreBaskerville-boldItalic.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font" Target="fonts/LibreBaskerville-bold.fntdata"/><Relationship Id="rId16" Type="http://schemas.openxmlformats.org/officeDocument/2006/relationships/slide" Target="slides/slide12.xml"/><Relationship Id="rId38" Type="http://schemas.openxmlformats.org/officeDocument/2006/relationships/font" Target="fonts/LibreBaskerville-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a317cc6f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a317cc6f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ca094723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ca094723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65af399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65af399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65af3994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65af3994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cafdc3f22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cafdc3f22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cafdc3f22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cafdc3f22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ca094723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ca094723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ca094723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ca094723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acafdc3f2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acafdc3f2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cafdc3f2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cafdc3f2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cafdc3f2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acafdc3f2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cafdc3f2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cafdc3f2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cafdc3f2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cafdc3f2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cafdc3f22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cafdc3f22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cafdc3f2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acafdc3f2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acafdc3f22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acafdc3f22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cafdc3f22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acafdc3f22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cafdc3f22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cafdc3f22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cafdc3f22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cafdc3f22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cafdc3f22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acafdc3f22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cafdc3f22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cafdc3f22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cafdc3f22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acafdc3f22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cafdc3f22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acafdc3f2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aca0947232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aca0947232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acafdc3f2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acafdc3f2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cafdc3f22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acafdc3f22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cafdc3f22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acafdc3f22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ca094723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aca094723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aca0947232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aca0947232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acafdc3f2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acafdc3f2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aca0947232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aca0947232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acafdc3f22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acafdc3f22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3.png"/><Relationship Id="rId4" Type="http://schemas.openxmlformats.org/officeDocument/2006/relationships/hyperlink" Target="https://github.com/Cy-2004/DIS-ml-projec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doi.org/10.3390/s21062222" TargetMode="External"/><Relationship Id="rId4" Type="http://schemas.openxmlformats.org/officeDocument/2006/relationships/hyperlink" Target="https://pubmed.ncbi.nlm.nih.gov/35915448/" TargetMode="External"/><Relationship Id="rId5" Type="http://schemas.openxmlformats.org/officeDocument/2006/relationships/hyperlink" Target="https://www.kaggle.com/code/mohsin31202/brain-tumor-patient-follow-up-prediction" TargetMode="External"/><Relationship Id="rId6" Type="http://schemas.openxmlformats.org/officeDocument/2006/relationships/hyperlink" Target="https://chat.openai.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200">
                <a:latin typeface="Libre Baskerville"/>
                <a:ea typeface="Libre Baskerville"/>
                <a:cs typeface="Libre Baskerville"/>
                <a:sym typeface="Libre Baskerville"/>
              </a:rPr>
              <a:t>Predicting Brain Tumor Characteristics with Machine Learning</a:t>
            </a:r>
            <a:endParaRPr sz="3200">
              <a:latin typeface="Libre Baskerville"/>
              <a:ea typeface="Libre Baskerville"/>
              <a:cs typeface="Libre Baskerville"/>
              <a:sym typeface="Libre Baskerville"/>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600">
                <a:latin typeface="Libre Baskerville"/>
                <a:ea typeface="Libre Baskerville"/>
                <a:cs typeface="Libre Baskerville"/>
                <a:sym typeface="Libre Baskerville"/>
              </a:rPr>
              <a:t>Jack and Chelsea</a:t>
            </a:r>
            <a:endParaRPr sz="1600">
              <a:latin typeface="Libre Baskerville"/>
              <a:ea typeface="Libre Baskerville"/>
              <a:cs typeface="Libre Baskerville"/>
              <a:sym typeface="Libre Baskerville"/>
            </a:endParaRPr>
          </a:p>
          <a:p>
            <a:pPr indent="0" lvl="0" marL="0" rtl="0" algn="ctr">
              <a:spcBef>
                <a:spcPts val="0"/>
              </a:spcBef>
              <a:spcAft>
                <a:spcPts val="0"/>
              </a:spcAft>
              <a:buNone/>
            </a:pPr>
            <a:r>
              <a:t/>
            </a:r>
            <a:endParaRPr sz="1400">
              <a:latin typeface="Libre Baskerville"/>
              <a:ea typeface="Libre Baskerville"/>
              <a:cs typeface="Libre Baskerville"/>
              <a:sym typeface="Libre Baskerville"/>
            </a:endParaRPr>
          </a:p>
          <a:p>
            <a:pPr indent="0" lvl="0" marL="0" rtl="0" algn="ctr">
              <a:spcBef>
                <a:spcPts val="0"/>
              </a:spcBef>
              <a:spcAft>
                <a:spcPts val="0"/>
              </a:spcAft>
              <a:buNone/>
            </a:pPr>
            <a:r>
              <a:rPr lang="en" sz="1400">
                <a:latin typeface="Libre Baskerville"/>
                <a:ea typeface="Libre Baskerville"/>
                <a:cs typeface="Libre Baskerville"/>
                <a:sym typeface="Libre Baskerville"/>
              </a:rPr>
              <a:t>Fall, 2025</a:t>
            </a:r>
            <a:endParaRPr sz="1400">
              <a:latin typeface="Libre Baskerville"/>
              <a:ea typeface="Libre Baskerville"/>
              <a:cs typeface="Libre Baskerville"/>
              <a:sym typeface="Libre Baskerville"/>
            </a:endParaRPr>
          </a:p>
        </p:txBody>
      </p:sp>
      <p:pic>
        <p:nvPicPr>
          <p:cNvPr id="56" name="Google Shape;56;p13"/>
          <p:cNvPicPr preferRelativeResize="0"/>
          <p:nvPr/>
        </p:nvPicPr>
        <p:blipFill>
          <a:blip r:embed="rId3">
            <a:alphaModFix/>
          </a:blip>
          <a:stretch>
            <a:fillRect/>
          </a:stretch>
        </p:blipFill>
        <p:spPr>
          <a:xfrm>
            <a:off x="730858" y="3181775"/>
            <a:ext cx="2358666" cy="15167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nvSpPr>
        <p:spPr>
          <a:xfrm>
            <a:off x="815700" y="971875"/>
            <a:ext cx="7512600" cy="2986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400">
                <a:solidFill>
                  <a:schemeClr val="dk1"/>
                </a:solidFill>
                <a:latin typeface="Libre Baskerville"/>
                <a:ea typeface="Libre Baskerville"/>
                <a:cs typeface="Libre Baskerville"/>
                <a:sym typeface="Libre Baskerville"/>
              </a:rPr>
              <a:t>We aim to predict tumor </a:t>
            </a:r>
            <a:r>
              <a:rPr lang="en" sz="2400">
                <a:solidFill>
                  <a:schemeClr val="dk1"/>
                </a:solidFill>
                <a:latin typeface="Libre Baskerville"/>
                <a:ea typeface="Libre Baskerville"/>
                <a:cs typeface="Libre Baskerville"/>
                <a:sym typeface="Libre Baskerville"/>
              </a:rPr>
              <a:t>histology using clinical patient data.</a:t>
            </a:r>
            <a:endParaRPr sz="2400">
              <a:solidFill>
                <a:schemeClr val="dk1"/>
              </a:solidFill>
              <a:latin typeface="Libre Baskerville"/>
              <a:ea typeface="Libre Baskerville"/>
              <a:cs typeface="Libre Baskerville"/>
              <a:sym typeface="Libre Baskerville"/>
            </a:endParaRPr>
          </a:p>
          <a:p>
            <a:pPr indent="0" lvl="0" marL="0" rtl="0" algn="ctr">
              <a:lnSpc>
                <a:spcPct val="115000"/>
              </a:lnSpc>
              <a:spcBef>
                <a:spcPts val="1200"/>
              </a:spcBef>
              <a:spcAft>
                <a:spcPts val="0"/>
              </a:spcAft>
              <a:buNone/>
            </a:pPr>
            <a:r>
              <a:t/>
            </a:r>
            <a:endParaRPr sz="2400">
              <a:solidFill>
                <a:schemeClr val="dk1"/>
              </a:solidFill>
              <a:latin typeface="Libre Baskerville"/>
              <a:ea typeface="Libre Baskerville"/>
              <a:cs typeface="Libre Baskerville"/>
              <a:sym typeface="Libre Baskerville"/>
            </a:endParaRPr>
          </a:p>
          <a:p>
            <a:pPr indent="0" lvl="0" marL="0" rtl="0" algn="ctr">
              <a:lnSpc>
                <a:spcPct val="115000"/>
              </a:lnSpc>
              <a:spcBef>
                <a:spcPts val="1200"/>
              </a:spcBef>
              <a:spcAft>
                <a:spcPts val="1200"/>
              </a:spcAft>
              <a:buNone/>
            </a:pPr>
            <a:r>
              <a:rPr lang="en" sz="2400">
                <a:solidFill>
                  <a:schemeClr val="dk1"/>
                </a:solidFill>
                <a:latin typeface="Libre Baskerville"/>
                <a:ea typeface="Libre Baskerville"/>
                <a:cs typeface="Libre Baskerville"/>
                <a:sym typeface="Libre Baskerville"/>
              </a:rPr>
              <a:t>We are also splitting the dataset to look at the accuracy of predictions for small, medium, and large tumors.</a:t>
            </a:r>
            <a:endParaRPr sz="2400">
              <a:solidFill>
                <a:schemeClr val="dk1"/>
              </a:solidFill>
              <a:latin typeface="Libre Baskerville"/>
              <a:ea typeface="Libre Baskerville"/>
              <a:cs typeface="Libre Baskerville"/>
              <a:sym typeface="Libre Baskervill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Why Does This Matter?</a:t>
            </a:r>
            <a:endParaRPr>
              <a:latin typeface="Libre Baskerville"/>
              <a:ea typeface="Libre Baskerville"/>
              <a:cs typeface="Libre Baskerville"/>
              <a:sym typeface="Libre Baskerville"/>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Libre Baskerville"/>
              <a:buChar char="●"/>
            </a:pPr>
            <a:r>
              <a:rPr lang="en">
                <a:latin typeface="Libre Baskerville"/>
                <a:ea typeface="Libre Baskerville"/>
                <a:cs typeface="Libre Baskerville"/>
                <a:sym typeface="Libre Baskerville"/>
              </a:rPr>
              <a:t>Being able to classify brain tumors by histology (the type of tumor) is necessary to properly treat patients.</a:t>
            </a:r>
            <a:endParaRPr>
              <a:latin typeface="Libre Baskerville"/>
              <a:ea typeface="Libre Baskerville"/>
              <a:cs typeface="Libre Baskerville"/>
              <a:sym typeface="Libre Baskerville"/>
            </a:endParaRPr>
          </a:p>
          <a:p>
            <a:pPr indent="0" lvl="0" marL="457200" rtl="0" algn="l">
              <a:spcBef>
                <a:spcPts val="1200"/>
              </a:spcBef>
              <a:spcAft>
                <a:spcPts val="0"/>
              </a:spcAft>
              <a:buNone/>
            </a:pPr>
            <a:r>
              <a:t/>
            </a:r>
            <a:endParaRPr>
              <a:latin typeface="Libre Baskerville"/>
              <a:ea typeface="Libre Baskerville"/>
              <a:cs typeface="Libre Baskerville"/>
              <a:sym typeface="Libre Baskerville"/>
            </a:endParaRPr>
          </a:p>
          <a:p>
            <a:pPr indent="-342900" lvl="0" marL="457200" rtl="0" algn="l">
              <a:spcBef>
                <a:spcPts val="1200"/>
              </a:spcBef>
              <a:spcAft>
                <a:spcPts val="0"/>
              </a:spcAft>
              <a:buSzPts val="1800"/>
              <a:buFont typeface="Libre Baskerville"/>
              <a:buChar char="●"/>
            </a:pPr>
            <a:r>
              <a:rPr lang="en">
                <a:latin typeface="Libre Baskerville"/>
                <a:ea typeface="Libre Baskerville"/>
                <a:cs typeface="Libre Baskerville"/>
                <a:sym typeface="Libre Baskerville"/>
              </a:rPr>
              <a:t>Seeing if there is a difference between brain tumor sizes in the predictability is important, because there could be value in using this method of classification for one or two of the groups, but this could be masked by the poor performance of the other group(s).</a:t>
            </a:r>
            <a:endParaRPr>
              <a:latin typeface="Libre Baskerville"/>
              <a:ea typeface="Libre Baskerville"/>
              <a:cs typeface="Libre Baskerville"/>
              <a:sym typeface="Libre Baskervill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Dataset</a:t>
            </a:r>
            <a:endParaRPr>
              <a:latin typeface="Libre Baskerville"/>
              <a:ea typeface="Libre Baskerville"/>
              <a:cs typeface="Libre Baskerville"/>
              <a:sym typeface="Libre Baskerville"/>
            </a:endParaRPr>
          </a:p>
        </p:txBody>
      </p:sp>
      <p:sp>
        <p:nvSpPr>
          <p:cNvPr id="73" name="Google Shape;73;p16"/>
          <p:cNvSpPr txBox="1"/>
          <p:nvPr>
            <p:ph idx="1" type="body"/>
          </p:nvPr>
        </p:nvSpPr>
        <p:spPr>
          <a:xfrm>
            <a:off x="311700" y="1410540"/>
            <a:ext cx="8520600" cy="3416400"/>
          </a:xfrm>
          <a:prstGeom prst="rect">
            <a:avLst/>
          </a:prstGeom>
        </p:spPr>
        <p:txBody>
          <a:bodyPr anchorCtr="0" anchor="t" bIns="91425" lIns="91425" spcFirstLastPara="1" rIns="91425" wrap="square" tIns="91425">
            <a:normAutofit/>
          </a:bodyPr>
          <a:lstStyle/>
          <a:p>
            <a:pPr indent="-323850" lvl="0" marL="457200" rtl="0" algn="l">
              <a:spcBef>
                <a:spcPts val="1000"/>
              </a:spcBef>
              <a:spcAft>
                <a:spcPts val="0"/>
              </a:spcAft>
              <a:buSzPts val="1500"/>
              <a:buFont typeface="Libre Baskerville"/>
              <a:buChar char="●"/>
            </a:pPr>
            <a:r>
              <a:rPr lang="en" sz="1500">
                <a:latin typeface="Libre Baskerville"/>
                <a:ea typeface="Libre Baskerville"/>
                <a:cs typeface="Libre Baskerville"/>
                <a:sym typeface="Libre Baskerville"/>
              </a:rPr>
              <a:t>Key Statistics:</a:t>
            </a:r>
            <a:endParaRPr sz="1500">
              <a:latin typeface="Libre Baskerville"/>
              <a:ea typeface="Libre Baskerville"/>
              <a:cs typeface="Libre Baskerville"/>
              <a:sym typeface="Libre Baskerville"/>
            </a:endParaRPr>
          </a:p>
          <a:p>
            <a:pPr indent="-304800" lvl="1" marL="914400" rtl="0" algn="l">
              <a:spcBef>
                <a:spcPts val="1200"/>
              </a:spcBef>
              <a:spcAft>
                <a:spcPts val="0"/>
              </a:spcAft>
              <a:buSzPts val="1200"/>
              <a:buFont typeface="Libre Baskerville"/>
              <a:buChar char="○"/>
            </a:pPr>
            <a:r>
              <a:rPr lang="en" sz="1200">
                <a:latin typeface="Libre Baskerville"/>
                <a:ea typeface="Libre Baskerville"/>
                <a:cs typeface="Libre Baskerville"/>
                <a:sym typeface="Libre Baskerville"/>
              </a:rPr>
              <a:t>14 categorical variables: Histology, Tumor Type, Location, Grade, Gender, etc.</a:t>
            </a:r>
            <a:endParaRPr sz="1200">
              <a:latin typeface="Libre Baskerville"/>
              <a:ea typeface="Libre Baskerville"/>
              <a:cs typeface="Libre Baskerville"/>
              <a:sym typeface="Libre Baskerville"/>
            </a:endParaRPr>
          </a:p>
          <a:p>
            <a:pPr indent="-304800" lvl="1" marL="914400" rtl="0" algn="l">
              <a:spcBef>
                <a:spcPts val="1200"/>
              </a:spcBef>
              <a:spcAft>
                <a:spcPts val="0"/>
              </a:spcAft>
              <a:buSzPts val="1200"/>
              <a:buFont typeface="Libre Baskerville"/>
              <a:buChar char="○"/>
            </a:pPr>
            <a:r>
              <a:rPr lang="en" sz="1200">
                <a:latin typeface="Libre Baskerville"/>
                <a:ea typeface="Libre Baskerville"/>
                <a:cs typeface="Libre Baskerville"/>
                <a:sym typeface="Libre Baskerville"/>
              </a:rPr>
              <a:t>4 numerical variables: Size (cm), Patient Age, Survival Rate, Growth Rate</a:t>
            </a:r>
            <a:endParaRPr sz="1200">
              <a:latin typeface="Libre Baskerville"/>
              <a:ea typeface="Libre Baskerville"/>
              <a:cs typeface="Libre Baskerville"/>
              <a:sym typeface="Libre Baskerville"/>
            </a:endParaRPr>
          </a:p>
          <a:p>
            <a:pPr indent="-304800" lvl="1" marL="914400" rtl="0" algn="l">
              <a:spcBef>
                <a:spcPts val="1200"/>
              </a:spcBef>
              <a:spcAft>
                <a:spcPts val="1200"/>
              </a:spcAft>
              <a:buSzPts val="1200"/>
              <a:buFont typeface="Libre Baskerville"/>
              <a:buChar char="○"/>
            </a:pPr>
            <a:r>
              <a:rPr lang="en" sz="1200">
                <a:latin typeface="Libre Baskerville"/>
                <a:ea typeface="Libre Baskerville"/>
                <a:cs typeface="Libre Baskerville"/>
                <a:sym typeface="Libre Baskerville"/>
              </a:rPr>
              <a:t>20,000 observations</a:t>
            </a:r>
            <a:endParaRPr sz="1200">
              <a:latin typeface="Libre Baskerville"/>
              <a:ea typeface="Libre Baskerville"/>
              <a:cs typeface="Libre Baskerville"/>
              <a:sym typeface="Libre Baskerville"/>
            </a:endParaRPr>
          </a:p>
        </p:txBody>
      </p:sp>
      <p:pic>
        <p:nvPicPr>
          <p:cNvPr id="74" name="Google Shape;74;p16"/>
          <p:cNvPicPr preferRelativeResize="0"/>
          <p:nvPr/>
        </p:nvPicPr>
        <p:blipFill>
          <a:blip r:embed="rId3">
            <a:alphaModFix/>
          </a:blip>
          <a:stretch>
            <a:fillRect/>
          </a:stretch>
        </p:blipFill>
        <p:spPr>
          <a:xfrm>
            <a:off x="6963825" y="2998900"/>
            <a:ext cx="1779750" cy="1779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Relevant Literature</a:t>
            </a:r>
            <a:endParaRPr>
              <a:latin typeface="Libre Baskerville"/>
              <a:ea typeface="Libre Baskerville"/>
              <a:cs typeface="Libre Baskerville"/>
              <a:sym typeface="Libre Baskerville"/>
            </a:endParaRPr>
          </a:p>
        </p:txBody>
      </p:sp>
      <p:sp>
        <p:nvSpPr>
          <p:cNvPr id="80" name="Google Shape;80;p17"/>
          <p:cNvSpPr txBox="1"/>
          <p:nvPr>
            <p:ph idx="1" type="body"/>
          </p:nvPr>
        </p:nvSpPr>
        <p:spPr>
          <a:xfrm>
            <a:off x="311700" y="1788650"/>
            <a:ext cx="8520600" cy="2540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Libre Baskerville"/>
                <a:ea typeface="Libre Baskerville"/>
                <a:cs typeface="Libre Baskerville"/>
                <a:sym typeface="Libre Baskerville"/>
              </a:rPr>
              <a:t>Other projects have used this dataset for different purposes including predicting survival rate, tumor location, and malignancy, as well as determining the treatments which maximize patient survival.</a:t>
            </a:r>
            <a:endParaRPr>
              <a:latin typeface="Libre Baskerville"/>
              <a:ea typeface="Libre Baskerville"/>
              <a:cs typeface="Libre Baskerville"/>
              <a:sym typeface="Libre Baskerville"/>
            </a:endParaRPr>
          </a:p>
          <a:p>
            <a:pPr indent="0" lvl="0" marL="0" rtl="0" algn="ctr">
              <a:spcBef>
                <a:spcPts val="1200"/>
              </a:spcBef>
              <a:spcAft>
                <a:spcPts val="0"/>
              </a:spcAft>
              <a:buNone/>
            </a:pPr>
            <a:r>
              <a:t/>
            </a:r>
            <a:endParaRPr>
              <a:latin typeface="Libre Baskerville"/>
              <a:ea typeface="Libre Baskerville"/>
              <a:cs typeface="Libre Baskerville"/>
              <a:sym typeface="Libre Baskerville"/>
            </a:endParaRPr>
          </a:p>
          <a:p>
            <a:pPr indent="0" lvl="0" marL="0" rtl="0" algn="ctr">
              <a:spcBef>
                <a:spcPts val="1200"/>
              </a:spcBef>
              <a:spcAft>
                <a:spcPts val="0"/>
              </a:spcAft>
              <a:buNone/>
            </a:pPr>
            <a:r>
              <a:rPr lang="en">
                <a:latin typeface="Libre Baskerville"/>
                <a:ea typeface="Libre Baskerville"/>
                <a:cs typeface="Libre Baskerville"/>
                <a:sym typeface="Libre Baskerville"/>
              </a:rPr>
              <a:t>We used their results as benchmarks for what we expected to see.</a:t>
            </a:r>
            <a:endParaRPr>
              <a:latin typeface="Libre Baskerville"/>
              <a:ea typeface="Libre Baskerville"/>
              <a:cs typeface="Libre Baskerville"/>
              <a:sym typeface="Libre Baskerville"/>
            </a:endParaRPr>
          </a:p>
          <a:p>
            <a:pPr indent="0" lvl="0" marL="0" rtl="0" algn="l">
              <a:spcBef>
                <a:spcPts val="1200"/>
              </a:spcBef>
              <a:spcAft>
                <a:spcPts val="1200"/>
              </a:spcAft>
              <a:buNone/>
            </a:pPr>
            <a:r>
              <a:t/>
            </a:r>
            <a:endParaRPr>
              <a:latin typeface="Libre Baskerville"/>
              <a:ea typeface="Libre Baskerville"/>
              <a:cs typeface="Libre Baskerville"/>
              <a:sym typeface="Libre Baskervill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Libre Baskerville"/>
                <a:ea typeface="Libre Baskerville"/>
                <a:cs typeface="Libre Baskerville"/>
                <a:sym typeface="Libre Baskerville"/>
              </a:rPr>
              <a:t>MRI-Based Brain Tumor Classification Using Ensemble of Deep Features and Machine Learning Classifiers</a:t>
            </a:r>
            <a:endParaRPr sz="2000">
              <a:latin typeface="Libre Baskerville"/>
              <a:ea typeface="Libre Baskerville"/>
              <a:cs typeface="Libre Baskerville"/>
              <a:sym typeface="Libre Baskerville"/>
            </a:endParaRPr>
          </a:p>
          <a:p>
            <a:pPr indent="0" lvl="0" marL="0" rtl="0" algn="l">
              <a:spcBef>
                <a:spcPts val="0"/>
              </a:spcBef>
              <a:spcAft>
                <a:spcPts val="0"/>
              </a:spcAft>
              <a:buNone/>
            </a:pPr>
            <a:r>
              <a:rPr lang="en" sz="2000">
                <a:latin typeface="Libre Baskerville"/>
                <a:ea typeface="Libre Baskerville"/>
                <a:cs typeface="Libre Baskerville"/>
                <a:sym typeface="Libre Baskerville"/>
              </a:rPr>
              <a:t>- Kang, Ullah, and Gwak, 2021</a:t>
            </a:r>
            <a:endParaRPr sz="2000">
              <a:latin typeface="Libre Baskerville"/>
              <a:ea typeface="Libre Baskerville"/>
              <a:cs typeface="Libre Baskerville"/>
              <a:sym typeface="Libre Baskerville"/>
            </a:endParaRPr>
          </a:p>
        </p:txBody>
      </p:sp>
      <p:sp>
        <p:nvSpPr>
          <p:cNvPr id="86" name="Google Shape;86;p18"/>
          <p:cNvSpPr txBox="1"/>
          <p:nvPr>
            <p:ph idx="1" type="body"/>
          </p:nvPr>
        </p:nvSpPr>
        <p:spPr>
          <a:xfrm>
            <a:off x="311700" y="2117900"/>
            <a:ext cx="8520600" cy="18420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1200"/>
              </a:spcAft>
              <a:buSzPts val="935"/>
              <a:buNone/>
            </a:pPr>
            <a:r>
              <a:rPr lang="en" sz="1430">
                <a:solidFill>
                  <a:srgbClr val="D9D9D9"/>
                </a:solidFill>
                <a:latin typeface="Libre Baskerville"/>
                <a:ea typeface="Libre Baskerville"/>
                <a:cs typeface="Libre Baskerville"/>
                <a:sym typeface="Libre Baskerville"/>
              </a:rPr>
              <a:t>“In our proposed framework, we adopt the concept of transfer learning and uses several pre-trained deep convolutional neural networks to extract deep features from brain magnetic resonance (MR) images. The extracted deep features are then evaluated by several machine learning classifiers. The top three deep features which perform well on several machine learning classifiers are selected and concatenated as an ensemble of deep features which is then fed into several machine learning classifiers to predict the final output.”</a:t>
            </a:r>
            <a:endParaRPr sz="1430">
              <a:solidFill>
                <a:srgbClr val="D9D9D9"/>
              </a:solidFill>
              <a:latin typeface="Libre Baskerville"/>
              <a:ea typeface="Libre Baskerville"/>
              <a:cs typeface="Libre Baskerville"/>
              <a:sym typeface="Libre Baskervill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Libre Baskerville"/>
                <a:ea typeface="Libre Baskerville"/>
                <a:cs typeface="Libre Baskerville"/>
                <a:sym typeface="Libre Baskerville"/>
              </a:rPr>
              <a:t>Feature extraction from MRI ADC images for brain tumor classification using machine learning techniques</a:t>
            </a:r>
            <a:endParaRPr sz="2000">
              <a:latin typeface="Libre Baskerville"/>
              <a:ea typeface="Libre Baskerville"/>
              <a:cs typeface="Libre Baskerville"/>
              <a:sym typeface="Libre Baskerville"/>
            </a:endParaRPr>
          </a:p>
          <a:p>
            <a:pPr indent="0" lvl="0" marL="0" rtl="0" algn="l">
              <a:spcBef>
                <a:spcPts val="0"/>
              </a:spcBef>
              <a:spcAft>
                <a:spcPts val="0"/>
              </a:spcAft>
              <a:buNone/>
            </a:pPr>
            <a:r>
              <a:rPr lang="en" sz="2000">
                <a:latin typeface="Libre Baskerville"/>
                <a:ea typeface="Libre Baskerville"/>
                <a:cs typeface="Libre Baskerville"/>
                <a:sym typeface="Libre Baskerville"/>
              </a:rPr>
              <a:t>- Vijithananda et al., 2022</a:t>
            </a:r>
            <a:endParaRPr sz="2000">
              <a:latin typeface="Libre Baskerville"/>
              <a:ea typeface="Libre Baskerville"/>
              <a:cs typeface="Libre Baskerville"/>
              <a:sym typeface="Libre Baskerville"/>
            </a:endParaRPr>
          </a:p>
        </p:txBody>
      </p:sp>
      <p:sp>
        <p:nvSpPr>
          <p:cNvPr id="92" name="Google Shape;92;p19"/>
          <p:cNvSpPr txBox="1"/>
          <p:nvPr>
            <p:ph idx="1" type="body"/>
          </p:nvPr>
        </p:nvSpPr>
        <p:spPr>
          <a:xfrm>
            <a:off x="311700" y="2562850"/>
            <a:ext cx="8520600" cy="18420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1200"/>
              </a:spcAft>
              <a:buSzPts val="935"/>
              <a:buNone/>
            </a:pPr>
            <a:r>
              <a:rPr lang="en" sz="1430">
                <a:solidFill>
                  <a:srgbClr val="D9D9D9"/>
                </a:solidFill>
                <a:latin typeface="Libre Baskerville"/>
                <a:ea typeface="Libre Baskerville"/>
                <a:cs typeface="Libre Baskerville"/>
                <a:sym typeface="Libre Baskerville"/>
              </a:rPr>
              <a:t>“This study focuses on extracting demographic and texture features from MRI Apparent Diffusion Coefficient (ADC) images of human brain tumors, identifying the distribution patterns of each feature and applying Machine Learning (ML) techniques to differentiate malignant from benign brain tumors.”</a:t>
            </a:r>
            <a:endParaRPr sz="1430">
              <a:solidFill>
                <a:srgbClr val="D9D9D9"/>
              </a:solidFill>
              <a:latin typeface="Libre Baskerville"/>
              <a:ea typeface="Libre Baskerville"/>
              <a:cs typeface="Libre Baskerville"/>
              <a:sym typeface="Libre Baskervill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Cleaning and Preprocessing</a:t>
            </a:r>
            <a:endParaRPr>
              <a:latin typeface="Libre Baskerville"/>
              <a:ea typeface="Libre Baskerville"/>
              <a:cs typeface="Libre Baskerville"/>
              <a:sym typeface="Libre Baskerville"/>
            </a:endParaRPr>
          </a:p>
        </p:txBody>
      </p:sp>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000"/>
              </a:spcBef>
              <a:spcAft>
                <a:spcPts val="0"/>
              </a:spcAft>
              <a:buSzPts val="1500"/>
              <a:buFont typeface="Libre Baskerville"/>
              <a:buChar char="●"/>
            </a:pPr>
            <a:r>
              <a:rPr lang="en" sz="1500">
                <a:latin typeface="Libre Baskerville"/>
                <a:ea typeface="Libre Baskerville"/>
                <a:cs typeface="Libre Baskerville"/>
                <a:sym typeface="Libre Baskerville"/>
              </a:rPr>
              <a:t>Dropped features:</a:t>
            </a:r>
            <a:endParaRPr sz="1500">
              <a:latin typeface="Libre Baskerville"/>
              <a:ea typeface="Libre Baskerville"/>
              <a:cs typeface="Libre Baskerville"/>
              <a:sym typeface="Libre Baskerville"/>
            </a:endParaRPr>
          </a:p>
          <a:p>
            <a:pPr indent="-304800" lvl="1" marL="914400" rtl="0" algn="l">
              <a:spcBef>
                <a:spcPts val="1000"/>
              </a:spcBef>
              <a:spcAft>
                <a:spcPts val="0"/>
              </a:spcAft>
              <a:buSzPts val="1200"/>
              <a:buFont typeface="Libre Baskerville"/>
              <a:buChar char="○"/>
            </a:pPr>
            <a:r>
              <a:rPr lang="en" sz="1200">
                <a:latin typeface="Libre Baskerville"/>
                <a:ea typeface="Libre Baskerville"/>
                <a:cs typeface="Libre Baskerville"/>
                <a:sym typeface="Libre Baskerville"/>
              </a:rPr>
              <a:t>We removed the variable Patient ID as it was irrelevant</a:t>
            </a:r>
            <a:endParaRPr sz="1200">
              <a:latin typeface="Libre Baskerville"/>
              <a:ea typeface="Libre Baskerville"/>
              <a:cs typeface="Libre Baskerville"/>
              <a:sym typeface="Libre Baskerville"/>
            </a:endParaRPr>
          </a:p>
          <a:p>
            <a:pPr indent="-304800" lvl="1" marL="914400" rtl="0" algn="l">
              <a:spcBef>
                <a:spcPts val="1200"/>
              </a:spcBef>
              <a:spcAft>
                <a:spcPts val="0"/>
              </a:spcAft>
              <a:buSzPts val="1200"/>
              <a:buFont typeface="Libre Baskerville"/>
              <a:buChar char="○"/>
            </a:pPr>
            <a:r>
              <a:rPr lang="en" sz="1200">
                <a:latin typeface="Libre Baskerville"/>
                <a:ea typeface="Libre Baskerville"/>
                <a:cs typeface="Libre Baskerville"/>
                <a:sym typeface="Libre Baskerville"/>
              </a:rPr>
              <a:t>We also removed Survival Rate and Follow Up Required, as we felt they were possible data leaks</a:t>
            </a:r>
            <a:endParaRPr sz="1200">
              <a:latin typeface="Libre Baskerville"/>
              <a:ea typeface="Libre Baskerville"/>
              <a:cs typeface="Libre Baskerville"/>
              <a:sym typeface="Libre Baskerville"/>
            </a:endParaRPr>
          </a:p>
          <a:p>
            <a:pPr indent="-323850" lvl="0" marL="457200" rtl="0" algn="l">
              <a:spcBef>
                <a:spcPts val="1200"/>
              </a:spcBef>
              <a:spcAft>
                <a:spcPts val="0"/>
              </a:spcAft>
              <a:buSzPts val="1500"/>
              <a:buFont typeface="Libre Baskerville"/>
              <a:buChar char="●"/>
            </a:pPr>
            <a:r>
              <a:rPr lang="en" sz="1500">
                <a:latin typeface="Libre Baskerville"/>
                <a:ea typeface="Libre Baskerville"/>
                <a:cs typeface="Libre Baskerville"/>
                <a:sym typeface="Libre Baskerville"/>
              </a:rPr>
              <a:t>Categorical encoding with OneHotEncoder</a:t>
            </a:r>
            <a:endParaRPr sz="1500">
              <a:latin typeface="Libre Baskerville"/>
              <a:ea typeface="Libre Baskerville"/>
              <a:cs typeface="Libre Baskerville"/>
              <a:sym typeface="Libre Baskerville"/>
            </a:endParaRPr>
          </a:p>
          <a:p>
            <a:pPr indent="-323850" lvl="0" marL="457200" rtl="0" algn="l">
              <a:spcBef>
                <a:spcPts val="1200"/>
              </a:spcBef>
              <a:spcAft>
                <a:spcPts val="0"/>
              </a:spcAft>
              <a:buSzPts val="1500"/>
              <a:buFont typeface="Libre Baskerville"/>
              <a:buChar char="●"/>
            </a:pPr>
            <a:r>
              <a:rPr lang="en" sz="1500">
                <a:latin typeface="Libre Baskerville"/>
                <a:ea typeface="Libre Baskerville"/>
                <a:cs typeface="Libre Baskerville"/>
                <a:sym typeface="Libre Baskerville"/>
              </a:rPr>
              <a:t>Feature scaling with MinMaxScaler</a:t>
            </a:r>
            <a:endParaRPr sz="1500">
              <a:latin typeface="Libre Baskerville"/>
              <a:ea typeface="Libre Baskerville"/>
              <a:cs typeface="Libre Baskerville"/>
              <a:sym typeface="Libre Baskerville"/>
            </a:endParaRPr>
          </a:p>
          <a:p>
            <a:pPr indent="-323850" lvl="0" marL="457200" rtl="0" algn="l">
              <a:spcBef>
                <a:spcPts val="1200"/>
              </a:spcBef>
              <a:spcAft>
                <a:spcPts val="1200"/>
              </a:spcAft>
              <a:buSzPts val="1500"/>
              <a:buFont typeface="Libre Baskerville"/>
              <a:buChar char="●"/>
            </a:pPr>
            <a:r>
              <a:rPr lang="en" sz="1500">
                <a:latin typeface="Libre Baskerville"/>
                <a:ea typeface="Libre Baskerville"/>
                <a:cs typeface="Libre Baskerville"/>
                <a:sym typeface="Libre Baskerville"/>
              </a:rPr>
              <a:t>The dataset was very clean when we found it (no missing values)</a:t>
            </a:r>
            <a:endParaRPr sz="1500">
              <a:latin typeface="Libre Baskerville"/>
              <a:ea typeface="Libre Baskerville"/>
              <a:cs typeface="Libre Baskerville"/>
              <a:sym typeface="Libre Baskerville"/>
            </a:endParaRPr>
          </a:p>
        </p:txBody>
      </p:sp>
      <p:pic>
        <p:nvPicPr>
          <p:cNvPr id="99" name="Google Shape;99;p20"/>
          <p:cNvPicPr preferRelativeResize="0"/>
          <p:nvPr/>
        </p:nvPicPr>
        <p:blipFill>
          <a:blip r:embed="rId3">
            <a:alphaModFix/>
          </a:blip>
          <a:stretch>
            <a:fillRect/>
          </a:stretch>
        </p:blipFill>
        <p:spPr>
          <a:xfrm>
            <a:off x="6874800" y="0"/>
            <a:ext cx="2269200" cy="1815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Models &amp; Methods</a:t>
            </a:r>
            <a:endParaRPr/>
          </a:p>
        </p:txBody>
      </p:sp>
      <p:sp>
        <p:nvSpPr>
          <p:cNvPr id="105" name="Google Shape;10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Font typeface="Libre Baskerville"/>
              <a:buChar char="●"/>
            </a:pPr>
            <a:r>
              <a:rPr lang="en" sz="1500">
                <a:latin typeface="Libre Baskerville"/>
                <a:ea typeface="Libre Baskerville"/>
                <a:cs typeface="Libre Baskerville"/>
                <a:sym typeface="Libre Baskerville"/>
              </a:rPr>
              <a:t>Classification:</a:t>
            </a:r>
            <a:endParaRPr sz="1500">
              <a:latin typeface="Libre Baskerville"/>
              <a:ea typeface="Libre Baskerville"/>
              <a:cs typeface="Libre Baskerville"/>
              <a:sym typeface="Libre Baskerville"/>
            </a:endParaRPr>
          </a:p>
          <a:p>
            <a:pPr indent="-323850" lvl="1" marL="914400" rtl="0" algn="l">
              <a:spcBef>
                <a:spcPts val="0"/>
              </a:spcBef>
              <a:spcAft>
                <a:spcPts val="0"/>
              </a:spcAft>
              <a:buSzPts val="1500"/>
              <a:buFont typeface="Libre Baskerville"/>
              <a:buChar char="○"/>
            </a:pPr>
            <a:r>
              <a:rPr lang="en" sz="1500">
                <a:latin typeface="Libre Baskerville"/>
                <a:ea typeface="Libre Baskerville"/>
                <a:cs typeface="Libre Baskerville"/>
                <a:sym typeface="Libre Baskerville"/>
              </a:rPr>
              <a:t>Algorithm: RandomForestClassifier</a:t>
            </a:r>
            <a:endParaRPr sz="1500">
              <a:latin typeface="Libre Baskerville"/>
              <a:ea typeface="Libre Baskerville"/>
              <a:cs typeface="Libre Baskerville"/>
              <a:sym typeface="Libre Baskerville"/>
            </a:endParaRPr>
          </a:p>
          <a:p>
            <a:pPr indent="-323850" lvl="1" marL="914400" rtl="0" algn="l">
              <a:spcBef>
                <a:spcPts val="0"/>
              </a:spcBef>
              <a:spcAft>
                <a:spcPts val="0"/>
              </a:spcAft>
              <a:buSzPts val="1500"/>
              <a:buFont typeface="Libre Baskerville"/>
              <a:buChar char="○"/>
            </a:pPr>
            <a:r>
              <a:rPr lang="en" sz="1500">
                <a:latin typeface="Libre Baskerville"/>
                <a:ea typeface="Libre Baskerville"/>
                <a:cs typeface="Libre Baskerville"/>
                <a:sym typeface="Libre Baskerville"/>
              </a:rPr>
              <a:t>Justification: robust to outliers, handles mixed data, interpretable</a:t>
            </a:r>
            <a:endParaRPr sz="1500">
              <a:latin typeface="Libre Baskerville"/>
              <a:ea typeface="Libre Baskerville"/>
              <a:cs typeface="Libre Baskerville"/>
              <a:sym typeface="Libre Baskerville"/>
            </a:endParaRPr>
          </a:p>
          <a:p>
            <a:pPr indent="-323850" lvl="1" marL="914400" rtl="0" algn="l">
              <a:spcBef>
                <a:spcPts val="0"/>
              </a:spcBef>
              <a:spcAft>
                <a:spcPts val="0"/>
              </a:spcAft>
              <a:buSzPts val="1500"/>
              <a:buFont typeface="Libre Baskerville"/>
              <a:buChar char="○"/>
            </a:pPr>
            <a:r>
              <a:rPr lang="en" sz="1500">
                <a:latin typeface="Libre Baskerville"/>
                <a:ea typeface="Libre Baskerville"/>
                <a:cs typeface="Libre Baskerville"/>
                <a:sym typeface="Libre Baskerville"/>
              </a:rPr>
              <a:t>Key hyperparameters (depth, estimators, min samples per leaf, etc.)</a:t>
            </a:r>
            <a:endParaRPr sz="1500">
              <a:latin typeface="Libre Baskerville"/>
              <a:ea typeface="Libre Baskerville"/>
              <a:cs typeface="Libre Baskerville"/>
              <a:sym typeface="Libre Baskerville"/>
            </a:endParaRPr>
          </a:p>
          <a:p>
            <a:pPr indent="-323850" lvl="0" marL="457200" rtl="0" algn="l">
              <a:spcBef>
                <a:spcPts val="0"/>
              </a:spcBef>
              <a:spcAft>
                <a:spcPts val="0"/>
              </a:spcAft>
              <a:buSzPts val="1500"/>
              <a:buFont typeface="Libre Baskerville"/>
              <a:buChar char="●"/>
            </a:pPr>
            <a:r>
              <a:rPr lang="en" sz="1500">
                <a:latin typeface="Libre Baskerville"/>
                <a:ea typeface="Libre Baskerville"/>
                <a:cs typeface="Libre Baskerville"/>
                <a:sym typeface="Libre Baskerville"/>
              </a:rPr>
              <a:t>Feature importance:</a:t>
            </a:r>
            <a:endParaRPr sz="1500">
              <a:latin typeface="Libre Baskerville"/>
              <a:ea typeface="Libre Baskerville"/>
              <a:cs typeface="Libre Baskerville"/>
              <a:sym typeface="Libre Baskerville"/>
            </a:endParaRPr>
          </a:p>
          <a:p>
            <a:pPr indent="-323850" lvl="1" marL="914400" rtl="0" algn="l">
              <a:spcBef>
                <a:spcPts val="0"/>
              </a:spcBef>
              <a:spcAft>
                <a:spcPts val="0"/>
              </a:spcAft>
              <a:buSzPts val="1500"/>
              <a:buFont typeface="Libre Baskerville"/>
              <a:buChar char="○"/>
            </a:pPr>
            <a:r>
              <a:rPr lang="en" sz="1500">
                <a:latin typeface="Libre Baskerville"/>
                <a:ea typeface="Libre Baskerville"/>
                <a:cs typeface="Libre Baskerville"/>
                <a:sym typeface="Libre Baskerville"/>
              </a:rPr>
              <a:t>We tried to drop </a:t>
            </a:r>
            <a:r>
              <a:rPr lang="en" sz="1500">
                <a:latin typeface="Libre Baskerville"/>
                <a:ea typeface="Libre Baskerville"/>
                <a:cs typeface="Libre Baskerville"/>
                <a:sym typeface="Libre Baskerville"/>
              </a:rPr>
              <a:t>irrelevant</a:t>
            </a:r>
            <a:r>
              <a:rPr lang="en" sz="1500">
                <a:latin typeface="Libre Baskerville"/>
                <a:ea typeface="Libre Baskerville"/>
                <a:cs typeface="Libre Baskerville"/>
                <a:sym typeface="Libre Baskerville"/>
              </a:rPr>
              <a:t> </a:t>
            </a:r>
            <a:r>
              <a:rPr lang="en" sz="1500">
                <a:latin typeface="Libre Baskerville"/>
                <a:ea typeface="Libre Baskerville"/>
                <a:cs typeface="Libre Baskerville"/>
                <a:sym typeface="Libre Baskerville"/>
              </a:rPr>
              <a:t>features</a:t>
            </a:r>
            <a:r>
              <a:rPr lang="en" sz="1500">
                <a:latin typeface="Libre Baskerville"/>
                <a:ea typeface="Libre Baskerville"/>
                <a:cs typeface="Libre Baskerville"/>
                <a:sym typeface="Libre Baskerville"/>
              </a:rPr>
              <a:t>, but our accuracy only slightly improved</a:t>
            </a:r>
            <a:endParaRPr sz="1500">
              <a:latin typeface="Libre Baskerville"/>
              <a:ea typeface="Libre Baskerville"/>
              <a:cs typeface="Libre Baskerville"/>
              <a:sym typeface="Libre Baskerville"/>
            </a:endParaRPr>
          </a:p>
          <a:p>
            <a:pPr indent="-323850" lvl="1" marL="914400" rtl="0" algn="l">
              <a:spcBef>
                <a:spcPts val="0"/>
              </a:spcBef>
              <a:spcAft>
                <a:spcPts val="0"/>
              </a:spcAft>
              <a:buSzPts val="1500"/>
              <a:buFont typeface="Libre Baskerville"/>
              <a:buChar char="○"/>
            </a:pPr>
            <a:r>
              <a:rPr lang="en" sz="1500">
                <a:latin typeface="Libre Baskerville"/>
                <a:ea typeface="Libre Baskerville"/>
                <a:cs typeface="Libre Baskerville"/>
                <a:sym typeface="Libre Baskerville"/>
              </a:rPr>
              <a:t>We tried to stratify the data by the top feature, however our accuracy became slightly worse</a:t>
            </a:r>
            <a:endParaRPr sz="1500">
              <a:latin typeface="Libre Baskerville"/>
              <a:ea typeface="Libre Baskerville"/>
              <a:cs typeface="Libre Baskerville"/>
              <a:sym typeface="Libre Baskerville"/>
            </a:endParaRPr>
          </a:p>
          <a:p>
            <a:pPr indent="-323850" lvl="0" marL="457200" rtl="0" algn="l">
              <a:spcBef>
                <a:spcPts val="0"/>
              </a:spcBef>
              <a:spcAft>
                <a:spcPts val="0"/>
              </a:spcAft>
              <a:buSzPts val="1500"/>
              <a:buFont typeface="Libre Baskerville"/>
              <a:buChar char="●"/>
            </a:pPr>
            <a:r>
              <a:rPr lang="en" sz="1500">
                <a:latin typeface="Libre Baskerville"/>
                <a:ea typeface="Libre Baskerville"/>
                <a:cs typeface="Libre Baskerville"/>
                <a:sym typeface="Libre Baskerville"/>
              </a:rPr>
              <a:t>Stratification:</a:t>
            </a:r>
            <a:endParaRPr sz="1500">
              <a:latin typeface="Libre Baskerville"/>
              <a:ea typeface="Libre Baskerville"/>
              <a:cs typeface="Libre Baskerville"/>
              <a:sym typeface="Libre Baskerville"/>
            </a:endParaRPr>
          </a:p>
          <a:p>
            <a:pPr indent="-323850" lvl="1" marL="914400" rtl="0" algn="l">
              <a:spcBef>
                <a:spcPts val="0"/>
              </a:spcBef>
              <a:spcAft>
                <a:spcPts val="0"/>
              </a:spcAft>
              <a:buSzPts val="1500"/>
              <a:buFont typeface="Libre Baskerville"/>
              <a:buChar char="○"/>
            </a:pPr>
            <a:r>
              <a:rPr lang="en" sz="1500">
                <a:latin typeface="Libre Baskerville"/>
                <a:ea typeface="Libre Baskerville"/>
                <a:cs typeface="Libre Baskerville"/>
                <a:sym typeface="Libre Baskerville"/>
              </a:rPr>
              <a:t>We straified the dataset by tumor size and compare accuracies</a:t>
            </a:r>
            <a:endParaRPr sz="1500">
              <a:latin typeface="Libre Baskerville"/>
              <a:ea typeface="Libre Baskerville"/>
              <a:cs typeface="Libre Baskerville"/>
              <a:sym typeface="Libre Baskervill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9" name="Shape 109"/>
        <p:cNvGrpSpPr/>
        <p:nvPr/>
      </p:nvGrpSpPr>
      <p:grpSpPr>
        <a:xfrm>
          <a:off x="0" y="0"/>
          <a:ext cx="0" cy="0"/>
          <a:chOff x="0" y="0"/>
          <a:chExt cx="0" cy="0"/>
        </a:xfrm>
      </p:grpSpPr>
      <p:pic>
        <p:nvPicPr>
          <p:cNvPr id="110" name="Google Shape;110;p22" title="Screenshot 2025-12-02 144300.png"/>
          <p:cNvPicPr preferRelativeResize="0"/>
          <p:nvPr/>
        </p:nvPicPr>
        <p:blipFill>
          <a:blip r:embed="rId3">
            <a:alphaModFix/>
          </a:blip>
          <a:stretch>
            <a:fillRect/>
          </a:stretch>
        </p:blipFill>
        <p:spPr>
          <a:xfrm>
            <a:off x="455126" y="0"/>
            <a:ext cx="8233748"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7" name="Google Shape;117;p23" title="Screenshot 2025-12-02 144310.png"/>
          <p:cNvPicPr preferRelativeResize="0"/>
          <p:nvPr/>
        </p:nvPicPr>
        <p:blipFill>
          <a:blip r:embed="rId3">
            <a:alphaModFix/>
          </a:blip>
          <a:stretch>
            <a:fillRect/>
          </a:stretch>
        </p:blipFill>
        <p:spPr>
          <a:xfrm>
            <a:off x="256542" y="0"/>
            <a:ext cx="8630915" cy="51434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1" name="Shape 121"/>
        <p:cNvGrpSpPr/>
        <p:nvPr/>
      </p:nvGrpSpPr>
      <p:grpSpPr>
        <a:xfrm>
          <a:off x="0" y="0"/>
          <a:ext cx="0" cy="0"/>
          <a:chOff x="0" y="0"/>
          <a:chExt cx="0" cy="0"/>
        </a:xfrm>
      </p:grpSpPr>
      <p:pic>
        <p:nvPicPr>
          <p:cNvPr id="122" name="Google Shape;122;p24" title="Screenshot 2025-12-02 144319.png"/>
          <p:cNvPicPr preferRelativeResize="0"/>
          <p:nvPr/>
        </p:nvPicPr>
        <p:blipFill>
          <a:blip r:embed="rId3">
            <a:alphaModFix/>
          </a:blip>
          <a:stretch>
            <a:fillRect/>
          </a:stretch>
        </p:blipFill>
        <p:spPr>
          <a:xfrm>
            <a:off x="0" y="0"/>
            <a:ext cx="3926482" cy="2458426"/>
          </a:xfrm>
          <a:prstGeom prst="rect">
            <a:avLst/>
          </a:prstGeom>
          <a:noFill/>
          <a:ln>
            <a:noFill/>
          </a:ln>
        </p:spPr>
      </p:pic>
      <p:pic>
        <p:nvPicPr>
          <p:cNvPr id="123" name="Google Shape;123;p24" title="Screenshot 2025-12-02 144328.png"/>
          <p:cNvPicPr preferRelativeResize="0"/>
          <p:nvPr/>
        </p:nvPicPr>
        <p:blipFill>
          <a:blip r:embed="rId4">
            <a:alphaModFix/>
          </a:blip>
          <a:stretch>
            <a:fillRect/>
          </a:stretch>
        </p:blipFill>
        <p:spPr>
          <a:xfrm>
            <a:off x="5132343" y="0"/>
            <a:ext cx="4011659" cy="2458426"/>
          </a:xfrm>
          <a:prstGeom prst="rect">
            <a:avLst/>
          </a:prstGeom>
          <a:noFill/>
          <a:ln>
            <a:noFill/>
          </a:ln>
        </p:spPr>
      </p:pic>
      <p:pic>
        <p:nvPicPr>
          <p:cNvPr id="124" name="Google Shape;124;p24" title="Screenshot 2025-12-02 144336.png"/>
          <p:cNvPicPr preferRelativeResize="0"/>
          <p:nvPr/>
        </p:nvPicPr>
        <p:blipFill>
          <a:blip r:embed="rId5">
            <a:alphaModFix/>
          </a:blip>
          <a:stretch>
            <a:fillRect/>
          </a:stretch>
        </p:blipFill>
        <p:spPr>
          <a:xfrm>
            <a:off x="2566175" y="2617172"/>
            <a:ext cx="4011652" cy="252632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Summary Tables</a:t>
            </a:r>
            <a:endParaRPr>
              <a:latin typeface="Libre Baskerville"/>
              <a:ea typeface="Libre Baskerville"/>
              <a:cs typeface="Libre Baskerville"/>
              <a:sym typeface="Libre Baskerville"/>
            </a:endParaRPr>
          </a:p>
        </p:txBody>
      </p:sp>
      <p:sp>
        <p:nvSpPr>
          <p:cNvPr id="130" name="Google Shape;130;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35714"/>
              </a:lnSpc>
              <a:spcBef>
                <a:spcPts val="0"/>
              </a:spcBef>
              <a:spcAft>
                <a:spcPts val="0"/>
              </a:spcAft>
              <a:buNone/>
            </a:pPr>
            <a:r>
              <a:rPr lang="en" sz="1050">
                <a:solidFill>
                  <a:srgbClr val="6A9955"/>
                </a:solidFill>
                <a:highlight>
                  <a:srgbClr val="1F1F1F"/>
                </a:highlight>
                <a:latin typeface="Courier New"/>
                <a:ea typeface="Courier New"/>
                <a:cs typeface="Courier New"/>
                <a:sym typeface="Courier New"/>
              </a:rPr>
              <a:t>df.head()</a:t>
            </a:r>
            <a:endParaRPr/>
          </a:p>
        </p:txBody>
      </p:sp>
      <p:pic>
        <p:nvPicPr>
          <p:cNvPr id="131" name="Google Shape;131;p25" title="Screenshot 2025-12-02 145224.png"/>
          <p:cNvPicPr preferRelativeResize="0"/>
          <p:nvPr/>
        </p:nvPicPr>
        <p:blipFill>
          <a:blip r:embed="rId3">
            <a:alphaModFix/>
          </a:blip>
          <a:stretch>
            <a:fillRect/>
          </a:stretch>
        </p:blipFill>
        <p:spPr>
          <a:xfrm>
            <a:off x="0" y="1931390"/>
            <a:ext cx="9143999" cy="128071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Summary Tables</a:t>
            </a:r>
            <a:endParaRPr>
              <a:latin typeface="Libre Baskerville"/>
              <a:ea typeface="Libre Baskerville"/>
              <a:cs typeface="Libre Baskerville"/>
              <a:sym typeface="Libre Baskerville"/>
            </a:endParaRPr>
          </a:p>
        </p:txBody>
      </p:sp>
      <p:sp>
        <p:nvSpPr>
          <p:cNvPr id="137" name="Google Shape;137;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35714"/>
              </a:lnSpc>
              <a:spcBef>
                <a:spcPts val="0"/>
              </a:spcBef>
              <a:spcAft>
                <a:spcPts val="0"/>
              </a:spcAft>
              <a:buNone/>
            </a:pPr>
            <a:r>
              <a:rPr lang="en" sz="1050">
                <a:solidFill>
                  <a:srgbClr val="6A9955"/>
                </a:solidFill>
                <a:highlight>
                  <a:srgbClr val="1F1F1F"/>
                </a:highlight>
                <a:latin typeface="Courier New"/>
                <a:ea typeface="Courier New"/>
                <a:cs typeface="Courier New"/>
                <a:sym typeface="Courier New"/>
              </a:rPr>
              <a:t>df.describe()</a:t>
            </a:r>
            <a:endParaRPr sz="1050">
              <a:solidFill>
                <a:srgbClr val="6A9955"/>
              </a:solidFill>
              <a:highlight>
                <a:srgbClr val="1F1F1F"/>
              </a:highlight>
              <a:latin typeface="Courier New"/>
              <a:ea typeface="Courier New"/>
              <a:cs typeface="Courier New"/>
              <a:sym typeface="Courier New"/>
            </a:endParaRPr>
          </a:p>
          <a:p>
            <a:pPr indent="0" lvl="0" marL="0" rtl="0" algn="l">
              <a:spcBef>
                <a:spcPts val="0"/>
              </a:spcBef>
              <a:spcAft>
                <a:spcPts val="1200"/>
              </a:spcAft>
              <a:buNone/>
            </a:pPr>
            <a:r>
              <a:t/>
            </a:r>
            <a:endParaRPr/>
          </a:p>
        </p:txBody>
      </p:sp>
      <p:pic>
        <p:nvPicPr>
          <p:cNvPr id="138" name="Google Shape;138;p26" title="Screenshot 2025-12-02 145237.png"/>
          <p:cNvPicPr preferRelativeResize="0"/>
          <p:nvPr/>
        </p:nvPicPr>
        <p:blipFill>
          <a:blip r:embed="rId3">
            <a:alphaModFix/>
          </a:blip>
          <a:stretch>
            <a:fillRect/>
          </a:stretch>
        </p:blipFill>
        <p:spPr>
          <a:xfrm>
            <a:off x="0" y="1690372"/>
            <a:ext cx="9144001" cy="306490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Summary Tables</a:t>
            </a:r>
            <a:endParaRPr>
              <a:latin typeface="Libre Baskerville"/>
              <a:ea typeface="Libre Baskerville"/>
              <a:cs typeface="Libre Baskerville"/>
              <a:sym typeface="Libre Baskerville"/>
            </a:endParaRPr>
          </a:p>
        </p:txBody>
      </p:sp>
      <p:sp>
        <p:nvSpPr>
          <p:cNvPr id="144" name="Google Shape;144;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35714"/>
              </a:lnSpc>
              <a:spcBef>
                <a:spcPts val="0"/>
              </a:spcBef>
              <a:spcAft>
                <a:spcPts val="0"/>
              </a:spcAft>
              <a:buNone/>
            </a:pPr>
            <a:r>
              <a:rPr lang="en" sz="1050">
                <a:solidFill>
                  <a:srgbClr val="6A9955"/>
                </a:solidFill>
                <a:highlight>
                  <a:srgbClr val="1F1F1F"/>
                </a:highlight>
                <a:latin typeface="Courier New"/>
                <a:ea typeface="Courier New"/>
                <a:cs typeface="Courier New"/>
                <a:sym typeface="Courier New"/>
              </a:rPr>
              <a:t>df.info()</a:t>
            </a:r>
            <a:endParaRPr sz="1050">
              <a:solidFill>
                <a:srgbClr val="6A9955"/>
              </a:solidFill>
              <a:highlight>
                <a:srgbClr val="1F1F1F"/>
              </a:highlight>
              <a:latin typeface="Courier New"/>
              <a:ea typeface="Courier New"/>
              <a:cs typeface="Courier New"/>
              <a:sym typeface="Courier New"/>
            </a:endParaRPr>
          </a:p>
          <a:p>
            <a:pPr indent="0" lvl="0" marL="0" rtl="0" algn="l">
              <a:spcBef>
                <a:spcPts val="0"/>
              </a:spcBef>
              <a:spcAft>
                <a:spcPts val="1200"/>
              </a:spcAft>
              <a:buNone/>
            </a:pPr>
            <a:r>
              <a:t/>
            </a:r>
            <a:endParaRPr/>
          </a:p>
        </p:txBody>
      </p:sp>
      <p:pic>
        <p:nvPicPr>
          <p:cNvPr id="145" name="Google Shape;145;p27" title="Screenshot 2025-12-02 145304.png"/>
          <p:cNvPicPr preferRelativeResize="0"/>
          <p:nvPr/>
        </p:nvPicPr>
        <p:blipFill>
          <a:blip r:embed="rId3">
            <a:alphaModFix/>
          </a:blip>
          <a:stretch>
            <a:fillRect/>
          </a:stretch>
        </p:blipFill>
        <p:spPr>
          <a:xfrm>
            <a:off x="2848550" y="1219125"/>
            <a:ext cx="3446900" cy="35684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Missing Values</a:t>
            </a:r>
            <a:endParaRPr>
              <a:latin typeface="Libre Baskerville"/>
              <a:ea typeface="Libre Baskerville"/>
              <a:cs typeface="Libre Baskerville"/>
              <a:sym typeface="Libre Baskerville"/>
            </a:endParaRPr>
          </a:p>
        </p:txBody>
      </p:sp>
      <p:sp>
        <p:nvSpPr>
          <p:cNvPr id="151" name="Google Shape;15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35714"/>
              </a:lnSpc>
              <a:spcBef>
                <a:spcPts val="0"/>
              </a:spcBef>
              <a:spcAft>
                <a:spcPts val="0"/>
              </a:spcAft>
              <a:buNone/>
            </a:pPr>
            <a:r>
              <a:rPr lang="en" sz="1050">
                <a:solidFill>
                  <a:srgbClr val="6A9955"/>
                </a:solidFill>
                <a:highlight>
                  <a:srgbClr val="1F1F1F"/>
                </a:highlight>
                <a:latin typeface="Courier New"/>
                <a:ea typeface="Courier New"/>
                <a:cs typeface="Courier New"/>
                <a:sym typeface="Courier New"/>
              </a:rPr>
              <a:t>df.isnull().sum()</a:t>
            </a:r>
            <a:endParaRPr sz="1050">
              <a:solidFill>
                <a:srgbClr val="6A9955"/>
              </a:solidFill>
              <a:highlight>
                <a:srgbClr val="1F1F1F"/>
              </a:highlight>
              <a:latin typeface="Courier New"/>
              <a:ea typeface="Courier New"/>
              <a:cs typeface="Courier New"/>
              <a:sym typeface="Courier New"/>
            </a:endParaRPr>
          </a:p>
          <a:p>
            <a:pPr indent="0" lvl="0" marL="0" rtl="0" algn="l">
              <a:spcBef>
                <a:spcPts val="0"/>
              </a:spcBef>
              <a:spcAft>
                <a:spcPts val="1200"/>
              </a:spcAft>
              <a:buNone/>
            </a:pPr>
            <a:r>
              <a:t/>
            </a:r>
            <a:endParaRPr/>
          </a:p>
        </p:txBody>
      </p:sp>
      <p:pic>
        <p:nvPicPr>
          <p:cNvPr id="152" name="Google Shape;152;p28" title="Screenshot 2025-12-02 145322.png"/>
          <p:cNvPicPr preferRelativeResize="0"/>
          <p:nvPr/>
        </p:nvPicPr>
        <p:blipFill>
          <a:blip r:embed="rId3">
            <a:alphaModFix/>
          </a:blip>
          <a:stretch>
            <a:fillRect/>
          </a:stretch>
        </p:blipFill>
        <p:spPr>
          <a:xfrm>
            <a:off x="3277362" y="445025"/>
            <a:ext cx="2589275" cy="4440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Code</a:t>
            </a:r>
            <a:endParaRPr>
              <a:latin typeface="Libre Baskerville"/>
              <a:ea typeface="Libre Baskerville"/>
              <a:cs typeface="Libre Baskerville"/>
              <a:sym typeface="Libre Baskerville"/>
            </a:endParaRPr>
          </a:p>
        </p:txBody>
      </p:sp>
      <p:pic>
        <p:nvPicPr>
          <p:cNvPr id="158" name="Google Shape;158;p29" title="Screenshot 2025-12-02 152554.png"/>
          <p:cNvPicPr preferRelativeResize="0"/>
          <p:nvPr/>
        </p:nvPicPr>
        <p:blipFill>
          <a:blip r:embed="rId3">
            <a:alphaModFix/>
          </a:blip>
          <a:stretch>
            <a:fillRect/>
          </a:stretch>
        </p:blipFill>
        <p:spPr>
          <a:xfrm>
            <a:off x="235813" y="3090885"/>
            <a:ext cx="8672333" cy="1099852"/>
          </a:xfrm>
          <a:prstGeom prst="rect">
            <a:avLst/>
          </a:prstGeom>
          <a:noFill/>
          <a:ln>
            <a:noFill/>
          </a:ln>
        </p:spPr>
      </p:pic>
      <p:pic>
        <p:nvPicPr>
          <p:cNvPr id="159" name="Google Shape;159;p29" title="Screenshot 2025-12-02 155651.png"/>
          <p:cNvPicPr preferRelativeResize="0"/>
          <p:nvPr/>
        </p:nvPicPr>
        <p:blipFill rotWithShape="1">
          <a:blip r:embed="rId4">
            <a:alphaModFix/>
          </a:blip>
          <a:srcRect b="29898" l="0" r="0" t="0"/>
          <a:stretch/>
        </p:blipFill>
        <p:spPr>
          <a:xfrm>
            <a:off x="235813" y="1166362"/>
            <a:ext cx="8672373" cy="152531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Code</a:t>
            </a:r>
            <a:endParaRPr>
              <a:latin typeface="Libre Baskerville"/>
              <a:ea typeface="Libre Baskerville"/>
              <a:cs typeface="Libre Baskerville"/>
              <a:sym typeface="Libre Baskerville"/>
            </a:endParaRPr>
          </a:p>
        </p:txBody>
      </p:sp>
      <p:pic>
        <p:nvPicPr>
          <p:cNvPr id="165" name="Google Shape;165;p30" title="Screenshot 2025-12-02 152619.png"/>
          <p:cNvPicPr preferRelativeResize="0"/>
          <p:nvPr/>
        </p:nvPicPr>
        <p:blipFill>
          <a:blip r:embed="rId3">
            <a:alphaModFix/>
          </a:blip>
          <a:stretch>
            <a:fillRect/>
          </a:stretch>
        </p:blipFill>
        <p:spPr>
          <a:xfrm>
            <a:off x="226925" y="1235125"/>
            <a:ext cx="8690150" cy="26732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Code</a:t>
            </a:r>
            <a:endParaRPr>
              <a:latin typeface="Libre Baskerville"/>
              <a:ea typeface="Libre Baskerville"/>
              <a:cs typeface="Libre Baskerville"/>
              <a:sym typeface="Libre Baskerville"/>
            </a:endParaRPr>
          </a:p>
        </p:txBody>
      </p:sp>
      <p:pic>
        <p:nvPicPr>
          <p:cNvPr id="171" name="Google Shape;171;p31" title="Screenshot 2025-12-02 152627.png"/>
          <p:cNvPicPr preferRelativeResize="0"/>
          <p:nvPr/>
        </p:nvPicPr>
        <p:blipFill>
          <a:blip r:embed="rId3">
            <a:alphaModFix/>
          </a:blip>
          <a:stretch>
            <a:fillRect/>
          </a:stretch>
        </p:blipFill>
        <p:spPr>
          <a:xfrm>
            <a:off x="484087" y="1352626"/>
            <a:ext cx="8175826" cy="27859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Code</a:t>
            </a:r>
            <a:endParaRPr>
              <a:latin typeface="Libre Baskerville"/>
              <a:ea typeface="Libre Baskerville"/>
              <a:cs typeface="Libre Baskerville"/>
              <a:sym typeface="Libre Baskerville"/>
            </a:endParaRPr>
          </a:p>
        </p:txBody>
      </p:sp>
      <p:pic>
        <p:nvPicPr>
          <p:cNvPr id="177" name="Google Shape;177;p32" title="Screenshot 2025-12-02 152636.png"/>
          <p:cNvPicPr preferRelativeResize="0"/>
          <p:nvPr/>
        </p:nvPicPr>
        <p:blipFill>
          <a:blip r:embed="rId3">
            <a:alphaModFix/>
          </a:blip>
          <a:stretch>
            <a:fillRect/>
          </a:stretch>
        </p:blipFill>
        <p:spPr>
          <a:xfrm>
            <a:off x="1573600" y="1017725"/>
            <a:ext cx="6483050" cy="38353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Code</a:t>
            </a:r>
            <a:endParaRPr>
              <a:latin typeface="Libre Baskerville"/>
              <a:ea typeface="Libre Baskerville"/>
              <a:cs typeface="Libre Baskerville"/>
              <a:sym typeface="Libre Baskerville"/>
            </a:endParaRPr>
          </a:p>
        </p:txBody>
      </p:sp>
      <p:pic>
        <p:nvPicPr>
          <p:cNvPr id="183" name="Google Shape;183;p33" title="Screenshot 2025-12-02 152646.png"/>
          <p:cNvPicPr preferRelativeResize="0"/>
          <p:nvPr/>
        </p:nvPicPr>
        <p:blipFill>
          <a:blip r:embed="rId3">
            <a:alphaModFix/>
          </a:blip>
          <a:stretch>
            <a:fillRect/>
          </a:stretch>
        </p:blipFill>
        <p:spPr>
          <a:xfrm>
            <a:off x="255900" y="1856400"/>
            <a:ext cx="8632202" cy="18166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Code</a:t>
            </a:r>
            <a:endParaRPr>
              <a:latin typeface="Libre Baskerville"/>
              <a:ea typeface="Libre Baskerville"/>
              <a:cs typeface="Libre Baskerville"/>
              <a:sym typeface="Libre Baskerville"/>
            </a:endParaRPr>
          </a:p>
        </p:txBody>
      </p:sp>
      <p:pic>
        <p:nvPicPr>
          <p:cNvPr id="189" name="Google Shape;189;p34" title="Screenshot 2025-12-02 152653.png"/>
          <p:cNvPicPr preferRelativeResize="0"/>
          <p:nvPr/>
        </p:nvPicPr>
        <p:blipFill>
          <a:blip r:embed="rId3">
            <a:alphaModFix/>
          </a:blip>
          <a:stretch>
            <a:fillRect/>
          </a:stretch>
        </p:blipFill>
        <p:spPr>
          <a:xfrm>
            <a:off x="168650" y="1363175"/>
            <a:ext cx="8806700" cy="31199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Code</a:t>
            </a:r>
            <a:endParaRPr>
              <a:latin typeface="Libre Baskerville"/>
              <a:ea typeface="Libre Baskerville"/>
              <a:cs typeface="Libre Baskerville"/>
              <a:sym typeface="Libre Baskerville"/>
            </a:endParaRPr>
          </a:p>
        </p:txBody>
      </p:sp>
      <p:pic>
        <p:nvPicPr>
          <p:cNvPr id="195" name="Google Shape;195;p35"/>
          <p:cNvPicPr preferRelativeResize="0"/>
          <p:nvPr/>
        </p:nvPicPr>
        <p:blipFill>
          <a:blip r:embed="rId3">
            <a:alphaModFix/>
          </a:blip>
          <a:stretch>
            <a:fillRect/>
          </a:stretch>
        </p:blipFill>
        <p:spPr>
          <a:xfrm>
            <a:off x="378763" y="1362575"/>
            <a:ext cx="8386476" cy="32356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Results Without Dropped Features</a:t>
            </a:r>
            <a:endParaRPr>
              <a:latin typeface="Libre Baskerville"/>
              <a:ea typeface="Libre Baskerville"/>
              <a:cs typeface="Libre Baskerville"/>
              <a:sym typeface="Libre Baskerville"/>
            </a:endParaRPr>
          </a:p>
          <a:p>
            <a:pPr indent="0" lvl="0" marL="0" rtl="0" algn="l">
              <a:spcBef>
                <a:spcPts val="0"/>
              </a:spcBef>
              <a:spcAft>
                <a:spcPts val="0"/>
              </a:spcAft>
              <a:buNone/>
            </a:pPr>
            <a:r>
              <a:t/>
            </a:r>
            <a:endParaRPr/>
          </a:p>
        </p:txBody>
      </p:sp>
      <p:pic>
        <p:nvPicPr>
          <p:cNvPr id="201" name="Google Shape;201;p36" title="Screenshot 2025-12-02 145334.png"/>
          <p:cNvPicPr preferRelativeResize="0"/>
          <p:nvPr/>
        </p:nvPicPr>
        <p:blipFill>
          <a:blip r:embed="rId3">
            <a:alphaModFix/>
          </a:blip>
          <a:stretch>
            <a:fillRect/>
          </a:stretch>
        </p:blipFill>
        <p:spPr>
          <a:xfrm>
            <a:off x="2395538" y="3452525"/>
            <a:ext cx="4352925" cy="1428750"/>
          </a:xfrm>
          <a:prstGeom prst="rect">
            <a:avLst/>
          </a:prstGeom>
          <a:noFill/>
          <a:ln>
            <a:noFill/>
          </a:ln>
        </p:spPr>
      </p:pic>
      <p:sp>
        <p:nvSpPr>
          <p:cNvPr id="202" name="Google Shape;202;p36"/>
          <p:cNvSpPr txBox="1"/>
          <p:nvPr/>
        </p:nvSpPr>
        <p:spPr>
          <a:xfrm>
            <a:off x="274938" y="1122913"/>
            <a:ext cx="8832900" cy="2430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Libre Baskerville"/>
              <a:buChar char="●"/>
            </a:pPr>
            <a:r>
              <a:rPr lang="en" sz="1800">
                <a:solidFill>
                  <a:schemeClr val="lt2"/>
                </a:solidFill>
                <a:latin typeface="Libre Baskerville"/>
                <a:ea typeface="Libre Baskerville"/>
                <a:cs typeface="Libre Baskerville"/>
                <a:sym typeface="Libre Baskerville"/>
              </a:rPr>
              <a:t>Training accuracy is higher than test accuracy, </a:t>
            </a:r>
            <a:r>
              <a:rPr lang="en" sz="1800">
                <a:solidFill>
                  <a:schemeClr val="lt2"/>
                </a:solidFill>
                <a:latin typeface="Libre Baskerville"/>
                <a:ea typeface="Libre Baskerville"/>
                <a:cs typeface="Libre Baskerville"/>
                <a:sym typeface="Libre Baskerville"/>
              </a:rPr>
              <a:t>showing</a:t>
            </a:r>
            <a:r>
              <a:rPr lang="en" sz="1800">
                <a:solidFill>
                  <a:schemeClr val="lt2"/>
                </a:solidFill>
                <a:latin typeface="Libre Baskerville"/>
                <a:ea typeface="Libre Baskerville"/>
                <a:cs typeface="Libre Baskerville"/>
                <a:sym typeface="Libre Baskerville"/>
              </a:rPr>
              <a:t> overfitting.</a:t>
            </a:r>
            <a:endParaRPr sz="1800">
              <a:solidFill>
                <a:schemeClr val="lt2"/>
              </a:solidFill>
              <a:latin typeface="Libre Baskerville"/>
              <a:ea typeface="Libre Baskerville"/>
              <a:cs typeface="Libre Baskerville"/>
              <a:sym typeface="Libre Baskerville"/>
            </a:endParaRPr>
          </a:p>
          <a:p>
            <a:pPr indent="-342900" lvl="0" marL="457200" rtl="0" algn="l">
              <a:spcBef>
                <a:spcPts val="0"/>
              </a:spcBef>
              <a:spcAft>
                <a:spcPts val="0"/>
              </a:spcAft>
              <a:buClr>
                <a:schemeClr val="lt2"/>
              </a:buClr>
              <a:buSzPts val="1800"/>
              <a:buFont typeface="Libre Baskerville"/>
              <a:buChar char="●"/>
            </a:pPr>
            <a:r>
              <a:rPr lang="en" sz="1800">
                <a:solidFill>
                  <a:schemeClr val="lt2"/>
                </a:solidFill>
                <a:latin typeface="Libre Baskerville"/>
                <a:ea typeface="Libre Baskerville"/>
                <a:cs typeface="Libre Baskerville"/>
                <a:sym typeface="Libre Baskerville"/>
              </a:rPr>
              <a:t>The</a:t>
            </a:r>
            <a:r>
              <a:rPr lang="en" sz="1800">
                <a:solidFill>
                  <a:schemeClr val="lt2"/>
                </a:solidFill>
                <a:latin typeface="Libre Baskerville"/>
                <a:ea typeface="Libre Baskerville"/>
                <a:cs typeface="Libre Baskerville"/>
                <a:sym typeface="Libre Baskerville"/>
              </a:rPr>
              <a:t> accuracy is also very low, showing that histology is likely not strongly related to the other features in our dataset.</a:t>
            </a:r>
            <a:endParaRPr sz="1800">
              <a:solidFill>
                <a:schemeClr val="lt2"/>
              </a:solidFill>
              <a:latin typeface="Libre Baskerville"/>
              <a:ea typeface="Libre Baskerville"/>
              <a:cs typeface="Libre Baskerville"/>
              <a:sym typeface="Libre Baskerville"/>
            </a:endParaRPr>
          </a:p>
          <a:p>
            <a:pPr indent="-342900" lvl="0" marL="457200" rtl="0" algn="l">
              <a:spcBef>
                <a:spcPts val="0"/>
              </a:spcBef>
              <a:spcAft>
                <a:spcPts val="0"/>
              </a:spcAft>
              <a:buClr>
                <a:schemeClr val="lt2"/>
              </a:buClr>
              <a:buSzPts val="1800"/>
              <a:buFont typeface="Libre Baskerville"/>
              <a:buChar char="●"/>
            </a:pPr>
            <a:r>
              <a:rPr lang="en" sz="1800">
                <a:solidFill>
                  <a:schemeClr val="lt2"/>
                </a:solidFill>
                <a:latin typeface="Libre Baskerville"/>
                <a:ea typeface="Libre Baskerville"/>
                <a:cs typeface="Libre Baskerville"/>
                <a:sym typeface="Libre Baskerville"/>
              </a:rPr>
              <a:t>Test </a:t>
            </a:r>
            <a:r>
              <a:rPr lang="en" sz="1800">
                <a:solidFill>
                  <a:schemeClr val="lt2"/>
                </a:solidFill>
                <a:latin typeface="Libre Baskerville"/>
                <a:ea typeface="Libre Baskerville"/>
                <a:cs typeface="Libre Baskerville"/>
                <a:sym typeface="Libre Baskerville"/>
              </a:rPr>
              <a:t>accuracy is essentially the same as guessing, as there are 4 histology types.</a:t>
            </a:r>
            <a:endParaRPr sz="1800">
              <a:solidFill>
                <a:schemeClr val="lt2"/>
              </a:solidFill>
              <a:latin typeface="Libre Baskerville"/>
              <a:ea typeface="Libre Baskerville"/>
              <a:cs typeface="Libre Baskerville"/>
              <a:sym typeface="Libre Baskerville"/>
            </a:endParaRPr>
          </a:p>
          <a:p>
            <a:pPr indent="-342900" lvl="0" marL="457200" rtl="0" algn="l">
              <a:spcBef>
                <a:spcPts val="0"/>
              </a:spcBef>
              <a:spcAft>
                <a:spcPts val="0"/>
              </a:spcAft>
              <a:buClr>
                <a:schemeClr val="lt2"/>
              </a:buClr>
              <a:buSzPts val="1800"/>
              <a:buFont typeface="Libre Baskerville"/>
              <a:buChar char="●"/>
            </a:pPr>
            <a:r>
              <a:rPr lang="en" sz="1800">
                <a:solidFill>
                  <a:schemeClr val="lt2"/>
                </a:solidFill>
                <a:latin typeface="Libre Baskerville"/>
                <a:ea typeface="Libre Baskerville"/>
                <a:cs typeface="Libre Baskerville"/>
                <a:sym typeface="Libre Baskerville"/>
              </a:rPr>
              <a:t>CV mean is also around 25% and standard deviation is very low, meaning the model consistently performs poorly across different subsets.</a:t>
            </a:r>
            <a:endParaRPr sz="1800">
              <a:solidFill>
                <a:schemeClr val="lt2"/>
              </a:solidFill>
              <a:latin typeface="Libre Baskerville"/>
              <a:ea typeface="Libre Baskerville"/>
              <a:cs typeface="Libre Baskerville"/>
              <a:sym typeface="Libre Baskervill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37"/>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Feature Importance</a:t>
            </a:r>
            <a:endParaRPr>
              <a:latin typeface="Libre Baskerville"/>
              <a:ea typeface="Libre Baskerville"/>
              <a:cs typeface="Libre Baskerville"/>
              <a:sym typeface="Libre Baskerville"/>
            </a:endParaRPr>
          </a:p>
        </p:txBody>
      </p:sp>
      <p:pic>
        <p:nvPicPr>
          <p:cNvPr id="213" name="Google Shape;213;p38" title="Screenshot 2025-12-02 145343.png"/>
          <p:cNvPicPr preferRelativeResize="0"/>
          <p:nvPr/>
        </p:nvPicPr>
        <p:blipFill>
          <a:blip r:embed="rId3">
            <a:alphaModFix/>
          </a:blip>
          <a:stretch>
            <a:fillRect/>
          </a:stretch>
        </p:blipFill>
        <p:spPr>
          <a:xfrm>
            <a:off x="5065300" y="743050"/>
            <a:ext cx="3693626" cy="3657400"/>
          </a:xfrm>
          <a:prstGeom prst="rect">
            <a:avLst/>
          </a:prstGeom>
          <a:noFill/>
          <a:ln>
            <a:noFill/>
          </a:ln>
        </p:spPr>
      </p:pic>
      <p:sp>
        <p:nvSpPr>
          <p:cNvPr id="214" name="Google Shape;214;p38"/>
          <p:cNvSpPr txBox="1"/>
          <p:nvPr/>
        </p:nvSpPr>
        <p:spPr>
          <a:xfrm>
            <a:off x="455750" y="1380975"/>
            <a:ext cx="4491900" cy="1790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Libre Baskerville"/>
              <a:buChar char="●"/>
            </a:pPr>
            <a:r>
              <a:rPr lang="en" sz="1800">
                <a:solidFill>
                  <a:schemeClr val="lt2"/>
                </a:solidFill>
                <a:latin typeface="Libre Baskerville"/>
                <a:ea typeface="Libre Baskerville"/>
                <a:cs typeface="Libre Baskerville"/>
                <a:sym typeface="Libre Baskerville"/>
              </a:rPr>
              <a:t>We kept the top 5 features and dropped the rest.</a:t>
            </a:r>
            <a:endParaRPr sz="1800">
              <a:solidFill>
                <a:schemeClr val="lt2"/>
              </a:solidFill>
              <a:latin typeface="Libre Baskerville"/>
              <a:ea typeface="Libre Baskerville"/>
              <a:cs typeface="Libre Baskerville"/>
              <a:sym typeface="Libre Baskerville"/>
            </a:endParaRPr>
          </a:p>
          <a:p>
            <a:pPr indent="0" lvl="0" marL="457200" rtl="0" algn="l">
              <a:spcBef>
                <a:spcPts val="0"/>
              </a:spcBef>
              <a:spcAft>
                <a:spcPts val="0"/>
              </a:spcAft>
              <a:buNone/>
            </a:pPr>
            <a:r>
              <a:t/>
            </a:r>
            <a:endParaRPr sz="1800">
              <a:solidFill>
                <a:schemeClr val="lt2"/>
              </a:solidFill>
              <a:latin typeface="Libre Baskerville"/>
              <a:ea typeface="Libre Baskerville"/>
              <a:cs typeface="Libre Baskerville"/>
              <a:sym typeface="Libre Baskerville"/>
            </a:endParaRPr>
          </a:p>
          <a:p>
            <a:pPr indent="-342900" lvl="0" marL="457200" rtl="0" algn="l">
              <a:spcBef>
                <a:spcPts val="0"/>
              </a:spcBef>
              <a:spcAft>
                <a:spcPts val="0"/>
              </a:spcAft>
              <a:buClr>
                <a:schemeClr val="lt2"/>
              </a:buClr>
              <a:buSzPts val="1800"/>
              <a:buFont typeface="Libre Baskerville"/>
              <a:buChar char="●"/>
            </a:pPr>
            <a:r>
              <a:rPr lang="en" sz="1800">
                <a:solidFill>
                  <a:schemeClr val="lt2"/>
                </a:solidFill>
                <a:latin typeface="Libre Baskerville"/>
                <a:ea typeface="Libre Baskerville"/>
                <a:cs typeface="Libre Baskerville"/>
                <a:sym typeface="Libre Baskerville"/>
              </a:rPr>
              <a:t>Tumor Size, Growth Rate, and Patient Age are by far the three most important features.</a:t>
            </a:r>
            <a:endParaRPr sz="1800">
              <a:solidFill>
                <a:schemeClr val="lt2"/>
              </a:solidFill>
              <a:latin typeface="Libre Baskerville"/>
              <a:ea typeface="Libre Baskerville"/>
              <a:cs typeface="Libre Baskerville"/>
              <a:sym typeface="Libre Baskervill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Results With Dropped Features</a:t>
            </a:r>
            <a:endParaRPr>
              <a:latin typeface="Libre Baskerville"/>
              <a:ea typeface="Libre Baskerville"/>
              <a:cs typeface="Libre Baskerville"/>
              <a:sym typeface="Libre Baskerville"/>
            </a:endParaRPr>
          </a:p>
          <a:p>
            <a:pPr indent="0" lvl="0" marL="0" rtl="0" algn="l">
              <a:spcBef>
                <a:spcPts val="0"/>
              </a:spcBef>
              <a:spcAft>
                <a:spcPts val="0"/>
              </a:spcAft>
              <a:buNone/>
            </a:pPr>
            <a:r>
              <a:t/>
            </a:r>
            <a:endParaRPr/>
          </a:p>
        </p:txBody>
      </p:sp>
      <p:pic>
        <p:nvPicPr>
          <p:cNvPr id="220" name="Google Shape;220;p39" title="Screenshot 2025-12-02 151537.png"/>
          <p:cNvPicPr preferRelativeResize="0"/>
          <p:nvPr/>
        </p:nvPicPr>
        <p:blipFill>
          <a:blip r:embed="rId3">
            <a:alphaModFix/>
          </a:blip>
          <a:stretch>
            <a:fillRect/>
          </a:stretch>
        </p:blipFill>
        <p:spPr>
          <a:xfrm>
            <a:off x="333700" y="3226650"/>
            <a:ext cx="8476600" cy="878075"/>
          </a:xfrm>
          <a:prstGeom prst="rect">
            <a:avLst/>
          </a:prstGeom>
          <a:noFill/>
          <a:ln>
            <a:noFill/>
          </a:ln>
        </p:spPr>
      </p:pic>
      <p:sp>
        <p:nvSpPr>
          <p:cNvPr id="221" name="Google Shape;221;p39"/>
          <p:cNvSpPr txBox="1"/>
          <p:nvPr/>
        </p:nvSpPr>
        <p:spPr>
          <a:xfrm>
            <a:off x="412350" y="1101450"/>
            <a:ext cx="7009800" cy="2940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Libre Baskerville"/>
              <a:buChar char="●"/>
            </a:pPr>
            <a:r>
              <a:rPr lang="en" sz="1800">
                <a:solidFill>
                  <a:schemeClr val="lt2"/>
                </a:solidFill>
                <a:latin typeface="Libre Baskerville"/>
                <a:ea typeface="Libre Baskerville"/>
                <a:cs typeface="Libre Baskerville"/>
                <a:sym typeface="Libre Baskerville"/>
              </a:rPr>
              <a:t>Accuracy is only very slightly better for the model with dropped features.</a:t>
            </a:r>
            <a:endParaRPr sz="1800">
              <a:solidFill>
                <a:schemeClr val="lt2"/>
              </a:solidFill>
              <a:latin typeface="Libre Baskerville"/>
              <a:ea typeface="Libre Baskerville"/>
              <a:cs typeface="Libre Baskerville"/>
              <a:sym typeface="Libre Baskerville"/>
            </a:endParaRPr>
          </a:p>
          <a:p>
            <a:pPr indent="0" lvl="0" marL="457200" rtl="0" algn="l">
              <a:spcBef>
                <a:spcPts val="0"/>
              </a:spcBef>
              <a:spcAft>
                <a:spcPts val="0"/>
              </a:spcAft>
              <a:buNone/>
            </a:pPr>
            <a:r>
              <a:t/>
            </a:r>
            <a:endParaRPr sz="1800">
              <a:solidFill>
                <a:schemeClr val="lt2"/>
              </a:solidFill>
              <a:latin typeface="Libre Baskerville"/>
              <a:ea typeface="Libre Baskerville"/>
              <a:cs typeface="Libre Baskerville"/>
              <a:sym typeface="Libre Baskerville"/>
            </a:endParaRPr>
          </a:p>
          <a:p>
            <a:pPr indent="-342900" lvl="0" marL="457200" rtl="0" algn="l">
              <a:spcBef>
                <a:spcPts val="0"/>
              </a:spcBef>
              <a:spcAft>
                <a:spcPts val="0"/>
              </a:spcAft>
              <a:buClr>
                <a:schemeClr val="lt2"/>
              </a:buClr>
              <a:buSzPts val="1800"/>
              <a:buFont typeface="Libre Baskerville"/>
              <a:buChar char="●"/>
            </a:pPr>
            <a:r>
              <a:rPr lang="en" sz="1800">
                <a:solidFill>
                  <a:schemeClr val="lt2"/>
                </a:solidFill>
                <a:latin typeface="Libre Baskerville"/>
                <a:ea typeface="Libre Baskerville"/>
                <a:cs typeface="Libre Baskerville"/>
                <a:sym typeface="Libre Baskerville"/>
              </a:rPr>
              <a:t>This very similar accuracy implies that dropping the unimportant features didn’t change the model’s predictive power.</a:t>
            </a:r>
            <a:endParaRPr sz="1800">
              <a:solidFill>
                <a:schemeClr val="lt2"/>
              </a:solidFill>
              <a:latin typeface="Libre Baskerville"/>
              <a:ea typeface="Libre Baskerville"/>
              <a:cs typeface="Libre Baskerville"/>
              <a:sym typeface="Libre Baskerville"/>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Stratified Results</a:t>
            </a:r>
            <a:endParaRPr>
              <a:latin typeface="Libre Baskerville"/>
              <a:ea typeface="Libre Baskerville"/>
              <a:cs typeface="Libre Baskerville"/>
              <a:sym typeface="Libre Baskerville"/>
            </a:endParaRPr>
          </a:p>
        </p:txBody>
      </p:sp>
      <p:pic>
        <p:nvPicPr>
          <p:cNvPr id="227" name="Google Shape;227;p40" title="Screenshot 2025-12-02 145422.png"/>
          <p:cNvPicPr preferRelativeResize="0"/>
          <p:nvPr/>
        </p:nvPicPr>
        <p:blipFill>
          <a:blip r:embed="rId3">
            <a:alphaModFix/>
          </a:blip>
          <a:stretch>
            <a:fillRect/>
          </a:stretch>
        </p:blipFill>
        <p:spPr>
          <a:xfrm>
            <a:off x="5041297" y="909225"/>
            <a:ext cx="3966150" cy="3612901"/>
          </a:xfrm>
          <a:prstGeom prst="rect">
            <a:avLst/>
          </a:prstGeom>
          <a:noFill/>
          <a:ln>
            <a:noFill/>
          </a:ln>
        </p:spPr>
      </p:pic>
      <p:sp>
        <p:nvSpPr>
          <p:cNvPr id="228" name="Google Shape;228;p40"/>
          <p:cNvSpPr txBox="1"/>
          <p:nvPr/>
        </p:nvSpPr>
        <p:spPr>
          <a:xfrm>
            <a:off x="0" y="1258800"/>
            <a:ext cx="4069200" cy="2625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Libre Baskerville"/>
              <a:buChar char="●"/>
            </a:pPr>
            <a:r>
              <a:rPr lang="en" sz="1800">
                <a:solidFill>
                  <a:schemeClr val="lt2"/>
                </a:solidFill>
                <a:latin typeface="Libre Baskerville"/>
                <a:ea typeface="Libre Baskerville"/>
                <a:cs typeface="Libre Baskerville"/>
                <a:sym typeface="Libre Baskerville"/>
              </a:rPr>
              <a:t>We stratified the data by the most important feature: Tumor Size</a:t>
            </a:r>
            <a:endParaRPr sz="1800">
              <a:solidFill>
                <a:schemeClr val="lt2"/>
              </a:solidFill>
              <a:latin typeface="Libre Baskerville"/>
              <a:ea typeface="Libre Baskerville"/>
              <a:cs typeface="Libre Baskerville"/>
              <a:sym typeface="Libre Baskerville"/>
            </a:endParaRPr>
          </a:p>
          <a:p>
            <a:pPr indent="0" lvl="0" marL="457200" rtl="0" algn="l">
              <a:spcBef>
                <a:spcPts val="0"/>
              </a:spcBef>
              <a:spcAft>
                <a:spcPts val="0"/>
              </a:spcAft>
              <a:buNone/>
            </a:pPr>
            <a:r>
              <a:t/>
            </a:r>
            <a:endParaRPr sz="1800">
              <a:solidFill>
                <a:schemeClr val="lt2"/>
              </a:solidFill>
              <a:latin typeface="Libre Baskerville"/>
              <a:ea typeface="Libre Baskerville"/>
              <a:cs typeface="Libre Baskerville"/>
              <a:sym typeface="Libre Baskerville"/>
            </a:endParaRPr>
          </a:p>
          <a:p>
            <a:pPr indent="-342900" lvl="0" marL="457200" rtl="0" algn="l">
              <a:spcBef>
                <a:spcPts val="0"/>
              </a:spcBef>
              <a:spcAft>
                <a:spcPts val="0"/>
              </a:spcAft>
              <a:buClr>
                <a:schemeClr val="lt2"/>
              </a:buClr>
              <a:buSzPts val="1800"/>
              <a:buFont typeface="Libre Baskerville"/>
              <a:buChar char="●"/>
            </a:pPr>
            <a:r>
              <a:rPr lang="en" sz="1800">
                <a:solidFill>
                  <a:schemeClr val="lt2"/>
                </a:solidFill>
                <a:latin typeface="Libre Baskerville"/>
                <a:ea typeface="Libre Baskerville"/>
                <a:cs typeface="Libre Baskerville"/>
                <a:sym typeface="Libre Baskerville"/>
              </a:rPr>
              <a:t>The accuracies and other results are still very similar to the non-stratified dataset</a:t>
            </a:r>
            <a:endParaRPr sz="1800">
              <a:solidFill>
                <a:schemeClr val="lt2"/>
              </a:solidFill>
              <a:latin typeface="Libre Baskerville"/>
              <a:ea typeface="Libre Baskerville"/>
              <a:cs typeface="Libre Baskerville"/>
              <a:sym typeface="Libre Baskerville"/>
            </a:endParaRPr>
          </a:p>
          <a:p>
            <a:pPr indent="0" lvl="0" marL="457200" rtl="0" algn="l">
              <a:spcBef>
                <a:spcPts val="0"/>
              </a:spcBef>
              <a:spcAft>
                <a:spcPts val="0"/>
              </a:spcAft>
              <a:buNone/>
            </a:pPr>
            <a:r>
              <a:t/>
            </a:r>
            <a:endParaRPr sz="1800">
              <a:solidFill>
                <a:schemeClr val="lt2"/>
              </a:solidFill>
              <a:latin typeface="Libre Baskerville"/>
              <a:ea typeface="Libre Baskerville"/>
              <a:cs typeface="Libre Baskerville"/>
              <a:sym typeface="Libre Baskerville"/>
            </a:endParaRPr>
          </a:p>
          <a:p>
            <a:pPr indent="-342900" lvl="0" marL="457200" rtl="0" algn="l">
              <a:spcBef>
                <a:spcPts val="0"/>
              </a:spcBef>
              <a:spcAft>
                <a:spcPts val="0"/>
              </a:spcAft>
              <a:buClr>
                <a:schemeClr val="lt2"/>
              </a:buClr>
              <a:buSzPts val="1800"/>
              <a:buFont typeface="Libre Baskerville"/>
              <a:buChar char="●"/>
            </a:pPr>
            <a:r>
              <a:rPr lang="en" sz="1800">
                <a:solidFill>
                  <a:schemeClr val="lt2"/>
                </a:solidFill>
                <a:latin typeface="Libre Baskerville"/>
                <a:ea typeface="Libre Baskerville"/>
                <a:cs typeface="Libre Baskerville"/>
                <a:sym typeface="Libre Baskerville"/>
              </a:rPr>
              <a:t>The small tumor group has a slightly better accuracy than the medium and large tumor groups.</a:t>
            </a:r>
            <a:endParaRPr sz="1800">
              <a:solidFill>
                <a:schemeClr val="lt2"/>
              </a:solidFill>
              <a:latin typeface="Libre Baskerville"/>
              <a:ea typeface="Libre Baskerville"/>
              <a:cs typeface="Libre Baskerville"/>
              <a:sym typeface="Libre Baskervill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id="233" name="Google Shape;233;p41" title="Screenshot 2025-12-02 at 2.54.32 PM.png"/>
          <p:cNvPicPr preferRelativeResize="0"/>
          <p:nvPr/>
        </p:nvPicPr>
        <p:blipFill rotWithShape="1">
          <a:blip r:embed="rId3">
            <a:alphaModFix/>
          </a:blip>
          <a:srcRect b="23701" l="14950" r="53232" t="60298"/>
          <a:stretch/>
        </p:blipFill>
        <p:spPr>
          <a:xfrm>
            <a:off x="1618588" y="1605770"/>
            <a:ext cx="5906826" cy="1931976"/>
          </a:xfrm>
          <a:prstGeom prst="rect">
            <a:avLst/>
          </a:prstGeom>
          <a:noFill/>
          <a:ln>
            <a:noFill/>
          </a:ln>
        </p:spPr>
      </p:pic>
      <p:sp>
        <p:nvSpPr>
          <p:cNvPr id="234" name="Google Shape;234;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Classification Report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p42"/>
          <p:cNvPicPr preferRelativeResize="0"/>
          <p:nvPr/>
        </p:nvPicPr>
        <p:blipFill>
          <a:blip r:embed="rId3">
            <a:alphaModFix/>
          </a:blip>
          <a:stretch>
            <a:fillRect/>
          </a:stretch>
        </p:blipFill>
        <p:spPr>
          <a:xfrm>
            <a:off x="1084600" y="0"/>
            <a:ext cx="6974810" cy="51435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Conclusion</a:t>
            </a:r>
            <a:endParaRPr>
              <a:latin typeface="Libre Baskerville"/>
              <a:ea typeface="Libre Baskerville"/>
              <a:cs typeface="Libre Baskerville"/>
              <a:sym typeface="Libre Baskerville"/>
            </a:endParaRPr>
          </a:p>
        </p:txBody>
      </p:sp>
      <p:sp>
        <p:nvSpPr>
          <p:cNvPr id="245" name="Google Shape;245;p43"/>
          <p:cNvSpPr txBox="1"/>
          <p:nvPr>
            <p:ph idx="1" type="body"/>
          </p:nvPr>
        </p:nvSpPr>
        <p:spPr>
          <a:xfrm>
            <a:off x="311700" y="1152475"/>
            <a:ext cx="8520600" cy="36975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Font typeface="Libre Baskerville"/>
              <a:buChar char="●"/>
            </a:pPr>
            <a:r>
              <a:rPr lang="en" sz="1500">
                <a:latin typeface="Libre Baskerville"/>
                <a:ea typeface="Libre Baskerville"/>
                <a:cs typeface="Libre Baskerville"/>
                <a:sym typeface="Libre Baskerville"/>
              </a:rPr>
              <a:t>We suspect the data is machine generated, so our results do not reflect the true predictive power of our model.</a:t>
            </a:r>
            <a:endParaRPr sz="1500">
              <a:latin typeface="Libre Baskerville"/>
              <a:ea typeface="Libre Baskerville"/>
              <a:cs typeface="Libre Baskerville"/>
              <a:sym typeface="Libre Baskerville"/>
            </a:endParaRPr>
          </a:p>
          <a:p>
            <a:pPr indent="-323850" lvl="0" marL="457200" rtl="0" algn="l">
              <a:spcBef>
                <a:spcPts val="0"/>
              </a:spcBef>
              <a:spcAft>
                <a:spcPts val="0"/>
              </a:spcAft>
              <a:buSzPts val="1500"/>
              <a:buFont typeface="Libre Baskerville"/>
              <a:buChar char="●"/>
            </a:pPr>
            <a:r>
              <a:rPr lang="en" sz="1500">
                <a:latin typeface="Libre Baskerville"/>
                <a:ea typeface="Libre Baskerville"/>
                <a:cs typeface="Libre Baskerville"/>
                <a:sym typeface="Libre Baskerville"/>
              </a:rPr>
              <a:t>We attempted to predict histology without imaging, however, it appears that these images carry essential data for classification that cannot be seen in our dataset.</a:t>
            </a:r>
            <a:endParaRPr sz="1500">
              <a:latin typeface="Libre Baskerville"/>
              <a:ea typeface="Libre Baskerville"/>
              <a:cs typeface="Libre Baskerville"/>
              <a:sym typeface="Libre Baskerville"/>
            </a:endParaRPr>
          </a:p>
          <a:p>
            <a:pPr indent="-323850" lvl="0" marL="457200" rtl="0" algn="l">
              <a:spcBef>
                <a:spcPts val="0"/>
              </a:spcBef>
              <a:spcAft>
                <a:spcPts val="0"/>
              </a:spcAft>
              <a:buSzPts val="1500"/>
              <a:buFont typeface="Libre Baskerville"/>
              <a:buChar char="●"/>
            </a:pPr>
            <a:r>
              <a:rPr lang="en" sz="1500">
                <a:latin typeface="Libre Baskerville"/>
                <a:ea typeface="Libre Baskerville"/>
                <a:cs typeface="Libre Baskerville"/>
                <a:sym typeface="Libre Baskerville"/>
              </a:rPr>
              <a:t>Our accuracy for both the total dataset and stratified dataset are essentially the same as guessing.</a:t>
            </a:r>
            <a:endParaRPr sz="1500">
              <a:latin typeface="Libre Baskerville"/>
              <a:ea typeface="Libre Baskerville"/>
              <a:cs typeface="Libre Baskerville"/>
              <a:sym typeface="Libre Baskerville"/>
            </a:endParaRPr>
          </a:p>
          <a:p>
            <a:pPr indent="0" lvl="0" marL="0" rtl="0" algn="l">
              <a:spcBef>
                <a:spcPts val="1200"/>
              </a:spcBef>
              <a:spcAft>
                <a:spcPts val="0"/>
              </a:spcAft>
              <a:buNone/>
            </a:pPr>
            <a:r>
              <a:t/>
            </a:r>
            <a:endParaRPr sz="1500">
              <a:latin typeface="Libre Baskerville"/>
              <a:ea typeface="Libre Baskerville"/>
              <a:cs typeface="Libre Baskerville"/>
              <a:sym typeface="Libre Baskerville"/>
            </a:endParaRPr>
          </a:p>
          <a:p>
            <a:pPr indent="-323850" lvl="0" marL="457200" rtl="0" algn="l">
              <a:spcBef>
                <a:spcPts val="1200"/>
              </a:spcBef>
              <a:spcAft>
                <a:spcPts val="0"/>
              </a:spcAft>
              <a:buSzPts val="1500"/>
              <a:buFont typeface="Libre Baskerville"/>
              <a:buChar char="●"/>
            </a:pPr>
            <a:r>
              <a:rPr lang="en" sz="1500">
                <a:latin typeface="Libre Baskerville"/>
                <a:ea typeface="Libre Baskerville"/>
                <a:cs typeface="Libre Baskerville"/>
                <a:sym typeface="Libre Baskerville"/>
              </a:rPr>
              <a:t>In future work, we would:</a:t>
            </a:r>
            <a:endParaRPr sz="1500">
              <a:latin typeface="Libre Baskerville"/>
              <a:ea typeface="Libre Baskerville"/>
              <a:cs typeface="Libre Baskerville"/>
              <a:sym typeface="Libre Baskerville"/>
            </a:endParaRPr>
          </a:p>
          <a:p>
            <a:pPr indent="-323850" lvl="1" marL="914400" rtl="0" algn="l">
              <a:spcBef>
                <a:spcPts val="0"/>
              </a:spcBef>
              <a:spcAft>
                <a:spcPts val="0"/>
              </a:spcAft>
              <a:buSzPts val="1500"/>
              <a:buFont typeface="Libre Baskerville"/>
              <a:buChar char="○"/>
            </a:pPr>
            <a:r>
              <a:rPr lang="en" sz="1500">
                <a:latin typeface="Libre Baskerville"/>
                <a:ea typeface="Libre Baskerville"/>
                <a:cs typeface="Libre Baskerville"/>
                <a:sym typeface="Libre Baskerville"/>
              </a:rPr>
              <a:t>Incorporate imaging features to see if our results would improve.</a:t>
            </a:r>
            <a:endParaRPr sz="1500">
              <a:latin typeface="Libre Baskerville"/>
              <a:ea typeface="Libre Baskerville"/>
              <a:cs typeface="Libre Baskerville"/>
              <a:sym typeface="Libre Baskerville"/>
            </a:endParaRPr>
          </a:p>
          <a:p>
            <a:pPr indent="-323850" lvl="1" marL="914400" rtl="0" algn="l">
              <a:spcBef>
                <a:spcPts val="0"/>
              </a:spcBef>
              <a:spcAft>
                <a:spcPts val="0"/>
              </a:spcAft>
              <a:buSzPts val="1500"/>
              <a:buFont typeface="Libre Baskerville"/>
              <a:buChar char="○"/>
            </a:pPr>
            <a:r>
              <a:rPr lang="en" sz="1500">
                <a:latin typeface="Libre Baskerville"/>
                <a:ea typeface="Libre Baskerville"/>
                <a:cs typeface="Libre Baskerville"/>
                <a:sym typeface="Libre Baskerville"/>
              </a:rPr>
              <a:t>Collect or validate the dataset using real clinical data to ensure biological relevance.</a:t>
            </a:r>
            <a:endParaRPr sz="1500">
              <a:latin typeface="Libre Baskerville"/>
              <a:ea typeface="Libre Baskerville"/>
              <a:cs typeface="Libre Baskerville"/>
              <a:sym typeface="Libre Baskerville"/>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44"/>
          <p:cNvPicPr preferRelativeResize="0"/>
          <p:nvPr/>
        </p:nvPicPr>
        <p:blipFill>
          <a:blip r:embed="rId3">
            <a:alphaModFix/>
          </a:blip>
          <a:stretch>
            <a:fillRect/>
          </a:stretch>
        </p:blipFill>
        <p:spPr>
          <a:xfrm>
            <a:off x="1558263" y="876525"/>
            <a:ext cx="6027474" cy="3390451"/>
          </a:xfrm>
          <a:prstGeom prst="rect">
            <a:avLst/>
          </a:prstGeom>
          <a:noFill/>
          <a:ln>
            <a:noFill/>
          </a:ln>
        </p:spPr>
      </p:pic>
      <p:sp>
        <p:nvSpPr>
          <p:cNvPr id="251" name="Google Shape;251;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Github</a:t>
            </a:r>
            <a:endParaRPr>
              <a:latin typeface="Libre Baskerville"/>
              <a:ea typeface="Libre Baskerville"/>
              <a:cs typeface="Libre Baskerville"/>
              <a:sym typeface="Libre Baskerville"/>
            </a:endParaRPr>
          </a:p>
        </p:txBody>
      </p:sp>
      <p:sp>
        <p:nvSpPr>
          <p:cNvPr id="252" name="Google Shape;252;p44"/>
          <p:cNvSpPr txBox="1"/>
          <p:nvPr>
            <p:ph idx="1" type="body"/>
          </p:nvPr>
        </p:nvSpPr>
        <p:spPr>
          <a:xfrm>
            <a:off x="311700" y="2073425"/>
            <a:ext cx="8520600" cy="12993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u="sng">
                <a:solidFill>
                  <a:schemeClr val="hlink"/>
                </a:solidFill>
                <a:latin typeface="Libre Baskerville"/>
                <a:ea typeface="Libre Baskerville"/>
                <a:cs typeface="Libre Baskerville"/>
                <a:sym typeface="Libre Baskerville"/>
                <a:hlinkClick r:id="rId4"/>
              </a:rPr>
              <a:t>https://github.com/Cy-2004/DIS-ml-project</a:t>
            </a:r>
            <a:r>
              <a:rPr lang="en">
                <a:solidFill>
                  <a:schemeClr val="dk1"/>
                </a:solidFill>
                <a:latin typeface="Libre Baskerville"/>
                <a:ea typeface="Libre Baskerville"/>
                <a:cs typeface="Libre Baskerville"/>
                <a:sym typeface="Libre Baskerville"/>
              </a:rPr>
              <a:t> </a:t>
            </a:r>
            <a:endParaRPr>
              <a:solidFill>
                <a:schemeClr val="dk1"/>
              </a:solidFill>
              <a:latin typeface="Libre Baskerville"/>
              <a:ea typeface="Libre Baskerville"/>
              <a:cs typeface="Libre Baskerville"/>
              <a:sym typeface="Libre Baskervill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ibre Baskerville"/>
                <a:ea typeface="Libre Baskerville"/>
                <a:cs typeface="Libre Baskerville"/>
                <a:sym typeface="Libre Baskerville"/>
              </a:rPr>
              <a:t>References</a:t>
            </a:r>
            <a:endParaRPr>
              <a:latin typeface="Libre Baskerville"/>
              <a:ea typeface="Libre Baskerville"/>
              <a:cs typeface="Libre Baskerville"/>
              <a:sym typeface="Libre Baskerville"/>
            </a:endParaRPr>
          </a:p>
        </p:txBody>
      </p:sp>
      <p:sp>
        <p:nvSpPr>
          <p:cNvPr id="258" name="Google Shape;258;p45"/>
          <p:cNvSpPr txBox="1"/>
          <p:nvPr>
            <p:ph idx="1" type="body"/>
          </p:nvPr>
        </p:nvSpPr>
        <p:spPr>
          <a:xfrm>
            <a:off x="311700" y="1152475"/>
            <a:ext cx="8520600" cy="3590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200">
                <a:latin typeface="Libre Baskerville"/>
                <a:ea typeface="Libre Baskerville"/>
                <a:cs typeface="Libre Baskerville"/>
                <a:sym typeface="Libre Baskerville"/>
              </a:rPr>
              <a:t>Kang, J., Ullah, Z., &amp; Gwak, J. (2021). MRI-based brain tumor classification using ensemble of deep features and machine learning classifiers. Sensors, 21(6), 2222. </a:t>
            </a:r>
            <a:r>
              <a:rPr lang="en" sz="1200" u="sng">
                <a:solidFill>
                  <a:schemeClr val="hlink"/>
                </a:solidFill>
                <a:latin typeface="Libre Baskerville"/>
                <a:ea typeface="Libre Baskerville"/>
                <a:cs typeface="Libre Baskerville"/>
                <a:sym typeface="Libre Baskerville"/>
                <a:hlinkClick r:id="rId3"/>
              </a:rPr>
              <a:t>https://doi.org/10.3390/s21062222</a:t>
            </a:r>
            <a:endParaRPr sz="1200">
              <a:latin typeface="Libre Baskerville"/>
              <a:ea typeface="Libre Baskerville"/>
              <a:cs typeface="Libre Baskerville"/>
              <a:sym typeface="Libre Baskerville"/>
            </a:endParaRPr>
          </a:p>
          <a:p>
            <a:pPr indent="0" lvl="0" marL="0" rtl="0" algn="l">
              <a:spcBef>
                <a:spcPts val="1200"/>
              </a:spcBef>
              <a:spcAft>
                <a:spcPts val="0"/>
              </a:spcAft>
              <a:buNone/>
            </a:pPr>
            <a:r>
              <a:rPr lang="en" sz="1200">
                <a:latin typeface="Libre Baskerville"/>
                <a:ea typeface="Libre Baskerville"/>
                <a:cs typeface="Libre Baskerville"/>
                <a:sym typeface="Libre Baskerville"/>
              </a:rPr>
              <a:t>Vijithananda, P., Gunasena, T. P., Jayasekara, D., &amp; Rajapakse, R. (2022). Feature extraction from MRI ADC images for brain tumor classification using machine learning techniques. Biomedical Signal Processing and Control, 73, 103463. </a:t>
            </a:r>
            <a:r>
              <a:rPr lang="en" sz="1200" u="sng">
                <a:solidFill>
                  <a:schemeClr val="hlink"/>
                </a:solidFill>
                <a:latin typeface="Libre Baskerville"/>
                <a:ea typeface="Libre Baskerville"/>
                <a:cs typeface="Libre Baskerville"/>
                <a:sym typeface="Libre Baskerville"/>
                <a:hlinkClick r:id="rId4"/>
              </a:rPr>
              <a:t>https://pubmed.ncbi.nlm.nih.gov/35915448/</a:t>
            </a:r>
            <a:endParaRPr sz="1200">
              <a:latin typeface="Libre Baskerville"/>
              <a:ea typeface="Libre Baskerville"/>
              <a:cs typeface="Libre Baskerville"/>
              <a:sym typeface="Libre Baskerville"/>
            </a:endParaRPr>
          </a:p>
          <a:p>
            <a:pPr indent="0" lvl="0" marL="0" rtl="0" algn="l">
              <a:spcBef>
                <a:spcPts val="1200"/>
              </a:spcBef>
              <a:spcAft>
                <a:spcPts val="0"/>
              </a:spcAft>
              <a:buNone/>
            </a:pPr>
            <a:r>
              <a:rPr lang="en" sz="1200">
                <a:latin typeface="Libre Baskerville"/>
                <a:ea typeface="Libre Baskerville"/>
                <a:cs typeface="Libre Baskerville"/>
                <a:sym typeface="Libre Baskerville"/>
              </a:rPr>
              <a:t>Shareef, M, mohsin31202. (2025, July). Brain Tumor Patient Follow-Up Prediction [Notebook]. Kaggle. </a:t>
            </a:r>
            <a:r>
              <a:rPr lang="en" sz="1200" u="sng">
                <a:solidFill>
                  <a:schemeClr val="hlink"/>
                </a:solidFill>
                <a:latin typeface="Libre Baskerville"/>
                <a:ea typeface="Libre Baskerville"/>
                <a:cs typeface="Libre Baskerville"/>
                <a:sym typeface="Libre Baskerville"/>
                <a:hlinkClick r:id="rId5"/>
              </a:rPr>
              <a:t>https://www.kaggle.com/code/mohsin31202/brain-tumor-patient-follow-up-prediction</a:t>
            </a:r>
            <a:endParaRPr sz="1200">
              <a:latin typeface="Libre Baskerville"/>
              <a:ea typeface="Libre Baskerville"/>
              <a:cs typeface="Libre Baskerville"/>
              <a:sym typeface="Libre Baskerville"/>
            </a:endParaRPr>
          </a:p>
          <a:p>
            <a:pPr indent="0" lvl="0" marL="0" rtl="0" algn="l">
              <a:spcBef>
                <a:spcPts val="1200"/>
              </a:spcBef>
              <a:spcAft>
                <a:spcPts val="0"/>
              </a:spcAft>
              <a:buNone/>
            </a:pPr>
            <a:r>
              <a:rPr lang="en" sz="1200">
                <a:latin typeface="Libre Baskerville"/>
                <a:ea typeface="Libre Baskerville"/>
                <a:cs typeface="Libre Baskerville"/>
                <a:sym typeface="Libre Baskerville"/>
              </a:rPr>
              <a:t>Phillips, J. (2025, September). Classifier Assignment [Unpublished class project]. Machine Learning, DIS Study Abroad.</a:t>
            </a:r>
            <a:endParaRPr sz="1200">
              <a:latin typeface="Libre Baskerville"/>
              <a:ea typeface="Libre Baskerville"/>
              <a:cs typeface="Libre Baskerville"/>
              <a:sym typeface="Libre Baskerville"/>
            </a:endParaRPr>
          </a:p>
          <a:p>
            <a:pPr indent="0" lvl="0" marL="0" rtl="0" algn="l">
              <a:spcBef>
                <a:spcPts val="1200"/>
              </a:spcBef>
              <a:spcAft>
                <a:spcPts val="0"/>
              </a:spcAft>
              <a:buNone/>
            </a:pPr>
            <a:r>
              <a:rPr lang="en" sz="1200">
                <a:latin typeface="Libre Baskerville"/>
                <a:ea typeface="Libre Baskerville"/>
                <a:cs typeface="Libre Baskerville"/>
                <a:sym typeface="Libre Baskerville"/>
              </a:rPr>
              <a:t>Yang, C</a:t>
            </a:r>
            <a:r>
              <a:rPr lang="en" sz="1200">
                <a:latin typeface="Libre Baskerville"/>
                <a:ea typeface="Libre Baskerville"/>
                <a:cs typeface="Libre Baskerville"/>
                <a:sym typeface="Libre Baskerville"/>
              </a:rPr>
              <a:t>. (2025, September). Classifier Assignment [Unpublished class project]. Machine Learning, DIS Study Abroad.</a:t>
            </a:r>
            <a:endParaRPr sz="1200">
              <a:latin typeface="Libre Baskerville"/>
              <a:ea typeface="Libre Baskerville"/>
              <a:cs typeface="Libre Baskerville"/>
              <a:sym typeface="Libre Baskerville"/>
            </a:endParaRPr>
          </a:p>
          <a:p>
            <a:pPr indent="0" lvl="0" marL="0" rtl="0" algn="l">
              <a:spcBef>
                <a:spcPts val="1200"/>
              </a:spcBef>
              <a:spcAft>
                <a:spcPts val="0"/>
              </a:spcAft>
              <a:buNone/>
            </a:pPr>
            <a:r>
              <a:rPr lang="en" sz="1200">
                <a:latin typeface="Libre Baskerville"/>
                <a:ea typeface="Libre Baskerville"/>
                <a:cs typeface="Libre Baskerville"/>
                <a:sym typeface="Libre Baskerville"/>
              </a:rPr>
              <a:t>OpenAI. (2025, December 2). *ChatGPT (GPT-5)* [Large language model]. </a:t>
            </a:r>
            <a:r>
              <a:rPr lang="en" sz="1200" u="sng">
                <a:solidFill>
                  <a:schemeClr val="hlink"/>
                </a:solidFill>
                <a:latin typeface="Libre Baskerville"/>
                <a:ea typeface="Libre Baskerville"/>
                <a:cs typeface="Libre Baskerville"/>
                <a:sym typeface="Libre Baskerville"/>
                <a:hlinkClick r:id="rId6"/>
              </a:rPr>
              <a:t>https://chat.openai.com/</a:t>
            </a:r>
            <a:endParaRPr sz="1200">
              <a:latin typeface="Libre Baskerville"/>
              <a:ea typeface="Libre Baskerville"/>
              <a:cs typeface="Libre Baskerville"/>
              <a:sym typeface="Libre Baskerville"/>
            </a:endParaRPr>
          </a:p>
          <a:p>
            <a:pPr indent="0" lvl="0" marL="0" rtl="0" algn="l">
              <a:spcBef>
                <a:spcPts val="1200"/>
              </a:spcBef>
              <a:spcAft>
                <a:spcPts val="1200"/>
              </a:spcAft>
              <a:buNone/>
            </a:pPr>
            <a:r>
              <a:t/>
            </a:r>
            <a:endParaRPr sz="1200">
              <a:latin typeface="Libre Baskerville"/>
              <a:ea typeface="Libre Baskerville"/>
              <a:cs typeface="Libre Baskerville"/>
              <a:sym typeface="Libre Baskerville"/>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